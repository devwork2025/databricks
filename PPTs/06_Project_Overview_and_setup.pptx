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C50FF1-ABAE-498F-9EBD-B35F31E89521}">
  <a:tblStyle styleId="{7CC50FF1-ABAE-498F-9EBD-B35F31E895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4fa6714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4fa6714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9941844b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9941844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9941844b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9941844b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9941844b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9941844b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9941844b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9941844b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99bacb0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99bacb0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99bacb047_0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99bacb0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99bacb04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99bacb0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e99bacb04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e99bacb04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e99bacb04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e99bacb04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4fa6714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4fa6714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5.png"/><Relationship Id="rId13" Type="http://schemas.openxmlformats.org/officeDocument/2006/relationships/image" Target="../media/image12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1417400" y="1131575"/>
            <a:ext cx="5824500" cy="15972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980950" y="1190750"/>
            <a:ext cx="46974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904750" y="1425625"/>
            <a:ext cx="48498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Project Overview</a:t>
            </a:r>
            <a:endParaRPr b="1" sz="4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Medallion Architecture 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50" y="1996825"/>
            <a:ext cx="1000125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100" y="2456288"/>
            <a:ext cx="1722400" cy="19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5725" y="2456300"/>
            <a:ext cx="1722400" cy="1963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0350" y="2491623"/>
            <a:ext cx="1666225" cy="1877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7750" y="1923475"/>
            <a:ext cx="1171575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1381400" y="3218350"/>
            <a:ext cx="3498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453500" y="3218350"/>
            <a:ext cx="3498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604338" y="3305375"/>
            <a:ext cx="3498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7646575" y="3313000"/>
            <a:ext cx="349800" cy="24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460950" y="3981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architecture</a:t>
            </a:r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75" y="1938025"/>
            <a:ext cx="923925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9775" y="3104838"/>
            <a:ext cx="7048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1163" y="3124375"/>
            <a:ext cx="10096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2975" y="3127225"/>
            <a:ext cx="10382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4300" y="3090563"/>
            <a:ext cx="10287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1293225" y="3938450"/>
            <a:ext cx="6231000" cy="10875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60475" y="4175013"/>
            <a:ext cx="6953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81163" y="4201325"/>
            <a:ext cx="11239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2975" y="4194988"/>
            <a:ext cx="1038225" cy="4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76200" y="4160725"/>
            <a:ext cx="11049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44650" y="4210725"/>
            <a:ext cx="400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1734100" y="3703325"/>
            <a:ext cx="176400" cy="436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097800" y="3722850"/>
            <a:ext cx="176400" cy="41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522450" y="3698725"/>
            <a:ext cx="176400" cy="416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030950" y="3639225"/>
            <a:ext cx="1764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2160275" y="3380025"/>
            <a:ext cx="463800" cy="8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3677875" y="3346250"/>
            <a:ext cx="463800" cy="8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195463" y="3346488"/>
            <a:ext cx="463800" cy="8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643000" y="3346488"/>
            <a:ext cx="463800" cy="8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530575" y="4631225"/>
            <a:ext cx="44418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Azure data lake storage gen2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199550" y="3159575"/>
            <a:ext cx="1708800" cy="571500"/>
          </a:xfrm>
          <a:prstGeom prst="verticalScroll">
            <a:avLst>
              <a:gd fmla="val 125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PowerBI/ML/DA project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965075" y="2733400"/>
            <a:ext cx="120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26337" y="2008413"/>
            <a:ext cx="6482224" cy="10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</a:t>
            </a:r>
            <a:r>
              <a:rPr lang="en"/>
              <a:t>Traffic</a:t>
            </a:r>
            <a:r>
              <a:rPr lang="en"/>
              <a:t> count dataset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8175" y="1807575"/>
            <a:ext cx="2371500" cy="30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Pedal cycle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Two wheeler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Buses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LGV ( large goods vehicle)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HGV (heavy goods vehicle)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Electric vehicle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688" y="1701700"/>
            <a:ext cx="1714500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0675" y="1739788"/>
            <a:ext cx="1990725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4325" y="1658825"/>
            <a:ext cx="199072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5000" y="3068550"/>
            <a:ext cx="209550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2300" y="3156700"/>
            <a:ext cx="1714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24325" y="3068525"/>
            <a:ext cx="19240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354325" y="16560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</a:t>
            </a:r>
            <a:endParaRPr/>
          </a:p>
        </p:txBody>
      </p:sp>
      <p:graphicFrame>
        <p:nvGraphicFramePr>
          <p:cNvPr id="129" name="Google Shape;129;p17"/>
          <p:cNvGraphicFramePr/>
          <p:nvPr/>
        </p:nvGraphicFramePr>
        <p:xfrm>
          <a:off x="164675" y="180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{7CC50FF1-ABAE-498F-9EBD-B35F31E89521}</a:tableStyleId>
              </a:tblPr>
              <a:tblGrid>
                <a:gridCol w="1632100"/>
                <a:gridCol w="1808450"/>
                <a:gridCol w="1720275"/>
                <a:gridCol w="1720275"/>
                <a:gridCol w="1720275"/>
              </a:tblGrid>
              <a:tr h="49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Vehicle flow point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Travel info of vehicle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 of types of vehicle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4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Record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hour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latitude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Pedal cycle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LGV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 point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Region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longitude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 wheeler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HGV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Direction of travel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Region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Road category 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 and taxi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 car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authority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Start junction road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Buses and coaches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EV bikes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Count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Road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 junction road name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 in detail</a:t>
            </a:r>
            <a:endParaRPr/>
          </a:p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264525" y="1763475"/>
            <a:ext cx="86412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Record ID = Uniquely identifies a record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Count point id = A unique reference for the road link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Direction of travel = Direction of travel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Year = Year it happened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Count date = The date when the actual count took place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hour = Hour 7 represents from 7am to 8am, and 17 tells from 5pm to 6pm.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Region id = Website region identifier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Region name = The name of the Region that travel took place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 Local authority name = Local authority that region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dictionary in detail</a:t>
            </a:r>
            <a:endParaRPr/>
          </a:p>
        </p:txBody>
      </p:sp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264525" y="1763475"/>
            <a:ext cx="86412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Cars and taxis = Counts of Cars and taxis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Buses and coaches = Counts of Buses and coaches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LGV Type = Counts of LGV Type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HGV Type = Counts of HGV Type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EV Car = Counts of EV Car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EV Bike = Counts of EV Bik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ctrTitle"/>
          </p:nvPr>
        </p:nvSpPr>
        <p:spPr>
          <a:xfrm>
            <a:off x="1082050" y="1130250"/>
            <a:ext cx="6363000" cy="14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Setup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4294967295" type="title"/>
          </p:nvPr>
        </p:nvSpPr>
        <p:spPr>
          <a:xfrm>
            <a:off x="258425" y="208325"/>
            <a:ext cx="2195700" cy="129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Expected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 setup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275" y="306800"/>
            <a:ext cx="1434750" cy="12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25" y="1604900"/>
            <a:ext cx="7512450" cy="11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/>
          <p:nvPr/>
        </p:nvSpPr>
        <p:spPr>
          <a:xfrm>
            <a:off x="734800" y="2748100"/>
            <a:ext cx="205800" cy="61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3911750" y="2748100"/>
            <a:ext cx="205800" cy="61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7088700" y="2748100"/>
            <a:ext cx="205800" cy="61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258425" y="3365200"/>
            <a:ext cx="1519800" cy="76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258425" y="3365200"/>
            <a:ext cx="14313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00"/>
                </a:solidFill>
                <a:latin typeface="Roboto"/>
                <a:ea typeface="Roboto"/>
                <a:cs typeface="Roboto"/>
                <a:sym typeface="Roboto"/>
              </a:rPr>
              <a:t>Row_traffic row_roads</a:t>
            </a:r>
            <a:endParaRPr sz="1800">
              <a:solidFill>
                <a:srgbClr val="99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431700" y="3365200"/>
            <a:ext cx="1519800" cy="76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431700" y="3365200"/>
            <a:ext cx="17088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Gold_</a:t>
            </a:r>
            <a:r>
              <a:rPr lang="en" sz="1800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traffic  gold_roads</a:t>
            </a:r>
            <a:endParaRPr sz="1800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3409850" y="3365200"/>
            <a:ext cx="1519800" cy="7677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409850" y="3365200"/>
            <a:ext cx="14313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Silver_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traffic Silver_roads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750" y="1549825"/>
            <a:ext cx="2092900" cy="58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575" y="1521762"/>
            <a:ext cx="2092900" cy="638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5825" y="1549825"/>
            <a:ext cx="1908896" cy="5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249800" y="1610175"/>
            <a:ext cx="1437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Containers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folders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4750" y="2763275"/>
            <a:ext cx="1712250" cy="13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3575" y="2587651"/>
            <a:ext cx="1883625" cy="193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/>
          <p:nvPr/>
        </p:nvSpPr>
        <p:spPr>
          <a:xfrm flipH="1">
            <a:off x="3088450" y="2141950"/>
            <a:ext cx="178500" cy="70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5380700" y="2130200"/>
            <a:ext cx="178500" cy="504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424150" y="567075"/>
            <a:ext cx="7688700" cy="5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40"/>
              <a:t>External Locations</a:t>
            </a:r>
            <a:endParaRPr sz="2540"/>
          </a:p>
        </p:txBody>
      </p:sp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264525" y="1763475"/>
            <a:ext cx="8641200" cy="32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 are going to create five external locations as mentioned below: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Landing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Checkpoints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Bronze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Silver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>
                <a:solidFill>
                  <a:schemeClr val="dk2"/>
                </a:solidFill>
              </a:rPr>
              <a:t>Gold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0000"/>
                    </a:gs>
                    <a:gs pos="100000">
                      <a:srgbClr val="540303"/>
                    </a:gs>
                  </a:gsLst>
                  <a:lin ang="5400012" scaled="0"/>
                </a:gradFill>
                <a:latin typeface="Arial"/>
              </a:rPr>
              <a:t>Thank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0000"/>
                    </a:gs>
                    <a:gs pos="100000">
                      <a:srgbClr val="540303"/>
                    </a:gs>
                  </a:gsLst>
                  <a:lin ang="5400012" scaled="0"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DB0000"/>
                    </a:gs>
                    <a:gs pos="100000">
                      <a:srgbClr val="540303"/>
                    </a:gs>
                  </a:gsLst>
                  <a:lin ang="5400012" scaled="0"/>
                </a:gradFill>
                <a:latin typeface="Arial"/>
              </a:rPr>
              <a:t>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