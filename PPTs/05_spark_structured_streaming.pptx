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Robo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242BF84-1D78-40EF-995A-A438ACC8AF50}">
  <a:tblStyle styleId="{7242BF84-1D78-40EF-995A-A438ACC8AF5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italic.fntdata"/><Relationship Id="rId25" Type="http://schemas.openxmlformats.org/officeDocument/2006/relationships/font" Target="fonts/Roboto-bold.fntdata"/><Relationship Id="rId27" Type="http://schemas.openxmlformats.org/officeDocument/2006/relationships/font" Target="fonts/Robo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c6f919934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c6f9199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74fa6714d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74fa6714d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74fac0558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74fac0558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74fac0558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74fac0558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74fac0558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74fac0558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74fac0558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74fac0558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74fac0558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74fac0558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74fac0558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74fac0558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74fac05589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74fac05589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74fac05589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74fac0558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74fac0558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74fac0558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74fac05589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74fac05589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74fac05589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74fac05589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74fac05589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74fac0558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74fac05589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74fac05589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74fac05589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74fac05589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74fa6714de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74fa6714de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1600"/>
              </a:spcBef>
              <a:spcAft>
                <a:spcPts val="0"/>
              </a:spcAft>
              <a:buClr>
                <a:schemeClr val="lt1"/>
              </a:buClr>
              <a:buSzPts val="1200"/>
              <a:buChar char="○"/>
              <a:defRPr sz="1200">
                <a:solidFill>
                  <a:schemeClr val="lt1"/>
                </a:solidFill>
              </a:defRPr>
            </a:lvl2pPr>
            <a:lvl3pPr indent="-304800" lvl="2" marL="1371600">
              <a:spcBef>
                <a:spcPts val="1600"/>
              </a:spcBef>
              <a:spcAft>
                <a:spcPts val="0"/>
              </a:spcAft>
              <a:buClr>
                <a:schemeClr val="lt1"/>
              </a:buClr>
              <a:buSzPts val="1200"/>
              <a:buChar char="■"/>
              <a:defRPr sz="1200">
                <a:solidFill>
                  <a:schemeClr val="lt1"/>
                </a:solidFill>
              </a:defRPr>
            </a:lvl3pPr>
            <a:lvl4pPr indent="-304800" lvl="3" marL="1828800">
              <a:spcBef>
                <a:spcPts val="1600"/>
              </a:spcBef>
              <a:spcAft>
                <a:spcPts val="0"/>
              </a:spcAft>
              <a:buClr>
                <a:schemeClr val="lt1"/>
              </a:buClr>
              <a:buSzPts val="1200"/>
              <a:buChar char="●"/>
              <a:defRPr sz="1200">
                <a:solidFill>
                  <a:schemeClr val="lt1"/>
                </a:solidFill>
              </a:defRPr>
            </a:lvl4pPr>
            <a:lvl5pPr indent="-304800" lvl="4" marL="2286000">
              <a:spcBef>
                <a:spcPts val="1600"/>
              </a:spcBef>
              <a:spcAft>
                <a:spcPts val="0"/>
              </a:spcAft>
              <a:buClr>
                <a:schemeClr val="lt1"/>
              </a:buClr>
              <a:buSzPts val="1200"/>
              <a:buChar char="○"/>
              <a:defRPr sz="1200">
                <a:solidFill>
                  <a:schemeClr val="lt1"/>
                </a:solidFill>
              </a:defRPr>
            </a:lvl5pPr>
            <a:lvl6pPr indent="-304800" lvl="5" marL="2743200">
              <a:spcBef>
                <a:spcPts val="1600"/>
              </a:spcBef>
              <a:spcAft>
                <a:spcPts val="0"/>
              </a:spcAft>
              <a:buClr>
                <a:schemeClr val="lt1"/>
              </a:buClr>
              <a:buSzPts val="1200"/>
              <a:buChar char="■"/>
              <a:defRPr sz="1200">
                <a:solidFill>
                  <a:schemeClr val="lt1"/>
                </a:solidFill>
              </a:defRPr>
            </a:lvl6pPr>
            <a:lvl7pPr indent="-304800" lvl="6" marL="3200400">
              <a:spcBef>
                <a:spcPts val="1600"/>
              </a:spcBef>
              <a:spcAft>
                <a:spcPts val="0"/>
              </a:spcAft>
              <a:buClr>
                <a:schemeClr val="lt1"/>
              </a:buClr>
              <a:buSzPts val="1200"/>
              <a:buChar char="●"/>
              <a:defRPr sz="1200">
                <a:solidFill>
                  <a:schemeClr val="lt1"/>
                </a:solidFill>
              </a:defRPr>
            </a:lvl7pPr>
            <a:lvl8pPr indent="-304800" lvl="7" marL="3657600">
              <a:spcBef>
                <a:spcPts val="1600"/>
              </a:spcBef>
              <a:spcAft>
                <a:spcPts val="0"/>
              </a:spcAft>
              <a:buClr>
                <a:schemeClr val="lt1"/>
              </a:buClr>
              <a:buSzPts val="1200"/>
              <a:buChar char="○"/>
              <a:defRPr sz="1200">
                <a:solidFill>
                  <a:schemeClr val="lt1"/>
                </a:solidFill>
              </a:defRPr>
            </a:lvl8pPr>
            <a:lvl9pPr indent="-304800" lvl="8" marL="4114800">
              <a:spcBef>
                <a:spcPts val="1600"/>
              </a:spcBef>
              <a:spcAft>
                <a:spcPts val="160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1469575" y="1131575"/>
            <a:ext cx="6363000" cy="2733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Spark streaming Structure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Spark structured streaming</a:t>
            </a:r>
            <a:endParaRPr/>
          </a:p>
        </p:txBody>
      </p:sp>
      <p:pic>
        <p:nvPicPr>
          <p:cNvPr id="73" name="Google Shape;73;p14"/>
          <p:cNvPicPr preferRelativeResize="0"/>
          <p:nvPr/>
        </p:nvPicPr>
        <p:blipFill>
          <a:blip r:embed="rId3">
            <a:alphaModFix/>
          </a:blip>
          <a:stretch>
            <a:fillRect/>
          </a:stretch>
        </p:blipFill>
        <p:spPr>
          <a:xfrm>
            <a:off x="711527" y="1940675"/>
            <a:ext cx="7547475" cy="3103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Spark structured streaming flow</a:t>
            </a:r>
            <a:endParaRPr/>
          </a:p>
        </p:txBody>
      </p:sp>
      <p:pic>
        <p:nvPicPr>
          <p:cNvPr id="79" name="Google Shape;79;p15"/>
          <p:cNvPicPr preferRelativeResize="0"/>
          <p:nvPr/>
        </p:nvPicPr>
        <p:blipFill>
          <a:blip r:embed="rId3">
            <a:alphaModFix/>
          </a:blip>
          <a:stretch>
            <a:fillRect/>
          </a:stretch>
        </p:blipFill>
        <p:spPr>
          <a:xfrm>
            <a:off x="1742038" y="1644150"/>
            <a:ext cx="5681824" cy="3354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Spark structured streaming flow</a:t>
            </a:r>
            <a:endParaRPr/>
          </a:p>
        </p:txBody>
      </p:sp>
      <p:pic>
        <p:nvPicPr>
          <p:cNvPr id="85" name="Google Shape;85;p16"/>
          <p:cNvPicPr preferRelativeResize="0"/>
          <p:nvPr/>
        </p:nvPicPr>
        <p:blipFill>
          <a:blip r:embed="rId3">
            <a:alphaModFix/>
          </a:blip>
          <a:stretch>
            <a:fillRect/>
          </a:stretch>
        </p:blipFill>
        <p:spPr>
          <a:xfrm>
            <a:off x="2103425" y="1732300"/>
            <a:ext cx="4830650" cy="3293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Supported</a:t>
            </a:r>
            <a:r>
              <a:rPr lang="en"/>
              <a:t> sources and Slinks</a:t>
            </a:r>
            <a:endParaRPr/>
          </a:p>
        </p:txBody>
      </p:sp>
      <p:pic>
        <p:nvPicPr>
          <p:cNvPr id="91" name="Google Shape;91;p17"/>
          <p:cNvPicPr preferRelativeResize="0"/>
          <p:nvPr/>
        </p:nvPicPr>
        <p:blipFill>
          <a:blip r:embed="rId3">
            <a:alphaModFix/>
          </a:blip>
          <a:stretch>
            <a:fillRect/>
          </a:stretch>
        </p:blipFill>
        <p:spPr>
          <a:xfrm>
            <a:off x="872475" y="1849875"/>
            <a:ext cx="6886850" cy="3019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StreamWriter </a:t>
            </a:r>
            <a:endParaRPr/>
          </a:p>
        </p:txBody>
      </p:sp>
      <p:sp>
        <p:nvSpPr>
          <p:cNvPr id="97" name="Google Shape;97;p18"/>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&lt;StreamingDataframe&gt;</a:t>
            </a:r>
            <a:r>
              <a:rPr lang="en"/>
              <a:t>.writeStream .option('checkpointLocation’,) .outputMode('append’) .toTable(‘’) Checkpoint </a:t>
            </a:r>
            <a:endParaRPr/>
          </a:p>
          <a:p>
            <a:pPr indent="-342900" lvl="0" marL="457200" rtl="0" algn="l">
              <a:spcBef>
                <a:spcPts val="1600"/>
              </a:spcBef>
              <a:spcAft>
                <a:spcPts val="0"/>
              </a:spcAft>
              <a:buSzPts val="1800"/>
              <a:buChar char="➔"/>
            </a:pPr>
            <a:r>
              <a:rPr lang="en"/>
              <a:t>To develop fault-tolerant and resilient Spark applications. </a:t>
            </a:r>
            <a:endParaRPr/>
          </a:p>
          <a:p>
            <a:pPr indent="-342900" lvl="0" marL="457200" rtl="0" algn="l">
              <a:spcBef>
                <a:spcPts val="0"/>
              </a:spcBef>
              <a:spcAft>
                <a:spcPts val="0"/>
              </a:spcAft>
              <a:buSzPts val="1800"/>
              <a:buChar char="➔"/>
            </a:pPr>
            <a:r>
              <a:rPr lang="en"/>
              <a:t>It maintains intermediate state on fault-tolerant compatible file systems like HDFS, ADLS and S3 storage systems to recover from failures. </a:t>
            </a:r>
            <a:endParaRPr/>
          </a:p>
          <a:p>
            <a:pPr indent="-342900" lvl="0" marL="457200" rtl="0" algn="l">
              <a:spcBef>
                <a:spcPts val="0"/>
              </a:spcBef>
              <a:spcAft>
                <a:spcPts val="0"/>
              </a:spcAft>
              <a:buSzPts val="1800"/>
              <a:buChar char="➔"/>
            </a:pPr>
            <a:r>
              <a:rPr lang="en"/>
              <a:t>Must be unique to each stream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outputModes</a:t>
            </a:r>
            <a:endParaRPr/>
          </a:p>
        </p:txBody>
      </p:sp>
      <p:sp>
        <p:nvSpPr>
          <p:cNvPr id="103" name="Google Shape;103;p19"/>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04" name="Google Shape;104;p19"/>
          <p:cNvPicPr preferRelativeResize="0"/>
          <p:nvPr/>
        </p:nvPicPr>
        <p:blipFill>
          <a:blip r:embed="rId3">
            <a:alphaModFix/>
          </a:blip>
          <a:stretch>
            <a:fillRect/>
          </a:stretch>
        </p:blipFill>
        <p:spPr>
          <a:xfrm>
            <a:off x="276663" y="1919075"/>
            <a:ext cx="8612574" cy="2530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Triggers</a:t>
            </a:r>
            <a:endParaRPr/>
          </a:p>
        </p:txBody>
      </p:sp>
      <p:graphicFrame>
        <p:nvGraphicFramePr>
          <p:cNvPr id="110" name="Google Shape;110;p20"/>
          <p:cNvGraphicFramePr/>
          <p:nvPr/>
        </p:nvGraphicFramePr>
        <p:xfrm>
          <a:off x="335300" y="1913175"/>
          <a:ext cx="3000000" cy="3000000"/>
        </p:xfrm>
        <a:graphic>
          <a:graphicData uri="http://schemas.openxmlformats.org/drawingml/2006/table">
            <a:tbl>
              <a:tblPr>
                <a:noFill/>
                <a:tableStyleId>{7242BF84-1D78-40EF-995A-A438ACC8AF50}</a:tableStyleId>
              </a:tblPr>
              <a:tblGrid>
                <a:gridCol w="2829375"/>
                <a:gridCol w="2829375"/>
                <a:gridCol w="2829375"/>
              </a:tblGrid>
              <a:tr h="381000">
                <a:tc>
                  <a:txBody>
                    <a:bodyPr/>
                    <a:lstStyle/>
                    <a:p>
                      <a:pPr indent="0" lvl="0" marL="0" rtl="0" algn="l">
                        <a:spcBef>
                          <a:spcPts val="0"/>
                        </a:spcBef>
                        <a:spcAft>
                          <a:spcPts val="0"/>
                        </a:spcAft>
                        <a:buNone/>
                      </a:pPr>
                      <a:r>
                        <a:rPr lang="en"/>
                        <a:t>Triggers</a:t>
                      </a:r>
                      <a:endParaRPr/>
                    </a:p>
                  </a:txBody>
                  <a:tcPr marT="91425" marB="91425" marR="91425" marL="91425"/>
                </a:tc>
                <a:tc>
                  <a:txBody>
                    <a:bodyPr/>
                    <a:lstStyle/>
                    <a:p>
                      <a:pPr indent="0" lvl="0" marL="0" rtl="0" algn="l">
                        <a:spcBef>
                          <a:spcPts val="0"/>
                        </a:spcBef>
                        <a:spcAft>
                          <a:spcPts val="0"/>
                        </a:spcAft>
                        <a:buNone/>
                      </a:pPr>
                      <a:r>
                        <a:rPr lang="en"/>
                        <a:t>Usage</a:t>
                      </a:r>
                      <a:endParaRPr/>
                    </a:p>
                  </a:txBody>
                  <a:tcPr marT="91425" marB="91425" marR="91425" marL="91425"/>
                </a:tc>
                <a:tc>
                  <a:txBody>
                    <a:bodyPr/>
                    <a:lstStyle/>
                    <a:p>
                      <a:pPr indent="0" lvl="0" marL="0" rtl="0" algn="l">
                        <a:spcBef>
                          <a:spcPts val="0"/>
                        </a:spcBef>
                        <a:spcAft>
                          <a:spcPts val="0"/>
                        </a:spcAft>
                        <a:buNone/>
                      </a:pPr>
                      <a:r>
                        <a:rPr lang="en"/>
                        <a:t>Description</a:t>
                      </a:r>
                      <a:endParaRPr/>
                    </a:p>
                  </a:txBody>
                  <a:tcPr marT="91425" marB="91425" marR="91425" marL="91425"/>
                </a:tc>
              </a:tr>
              <a:tr h="381000">
                <a:tc>
                  <a:txBody>
                    <a:bodyPr/>
                    <a:lstStyle/>
                    <a:p>
                      <a:pPr indent="0" lvl="0" marL="0" rtl="0" algn="l">
                        <a:spcBef>
                          <a:spcPts val="0"/>
                        </a:spcBef>
                        <a:spcAft>
                          <a:spcPts val="0"/>
                        </a:spcAft>
                        <a:buNone/>
                      </a:pPr>
                      <a:r>
                        <a:rPr lang="en"/>
                        <a:t>Unspecified (default)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will trigger the microbatch for every 500 ms or half a second</a:t>
                      </a:r>
                      <a:endParaRPr/>
                    </a:p>
                  </a:txBody>
                  <a:tcPr marT="91425" marB="91425" marR="91425" marL="91425"/>
                </a:tc>
              </a:tr>
              <a:tr h="381000">
                <a:tc>
                  <a:txBody>
                    <a:bodyPr/>
                    <a:lstStyle/>
                    <a:p>
                      <a:pPr indent="0" lvl="0" marL="0" rtl="0" algn="l">
                        <a:spcBef>
                          <a:spcPts val="0"/>
                        </a:spcBef>
                        <a:spcAft>
                          <a:spcPts val="0"/>
                        </a:spcAft>
                        <a:buNone/>
                      </a:pPr>
                      <a:r>
                        <a:rPr lang="en"/>
                        <a:t>processingTime (Fixed Interval)</a:t>
                      </a:r>
                      <a:endParaRPr/>
                    </a:p>
                  </a:txBody>
                  <a:tcPr marT="91425" marB="91425" marR="91425" marL="91425"/>
                </a:tc>
                <a:tc>
                  <a:txBody>
                    <a:bodyPr/>
                    <a:lstStyle/>
                    <a:p>
                      <a:pPr indent="0" lvl="0" marL="0" rtl="0" algn="l">
                        <a:spcBef>
                          <a:spcPts val="0"/>
                        </a:spcBef>
                        <a:spcAft>
                          <a:spcPts val="0"/>
                        </a:spcAft>
                        <a:buNone/>
                      </a:pPr>
                      <a:r>
                        <a:rPr lang="en"/>
                        <a:t>. trigger(processingTime='2 minutes') </a:t>
                      </a:r>
                      <a:endParaRPr/>
                    </a:p>
                  </a:txBody>
                  <a:tcPr marT="91425" marB="91425" marR="91425" marL="91425"/>
                </a:tc>
                <a:tc>
                  <a:txBody>
                    <a:bodyPr/>
                    <a:lstStyle/>
                    <a:p>
                      <a:pPr indent="0" lvl="0" marL="0" rtl="0" algn="l">
                        <a:spcBef>
                          <a:spcPts val="0"/>
                        </a:spcBef>
                        <a:spcAft>
                          <a:spcPts val="0"/>
                        </a:spcAft>
                        <a:buNone/>
                      </a:pPr>
                      <a:r>
                        <a:rPr lang="en"/>
                        <a:t>You can set processing time or time interval for each execution .</a:t>
                      </a:r>
                      <a:endParaRPr/>
                    </a:p>
                  </a:txBody>
                  <a:tcPr marT="91425" marB="91425" marR="91425" marL="91425"/>
                </a:tc>
              </a:tr>
              <a:tr h="381000">
                <a:tc>
                  <a:txBody>
                    <a:bodyPr/>
                    <a:lstStyle/>
                    <a:p>
                      <a:pPr indent="0" lvl="0" marL="0" rtl="0" algn="l">
                        <a:spcBef>
                          <a:spcPts val="0"/>
                        </a:spcBef>
                        <a:spcAft>
                          <a:spcPts val="0"/>
                        </a:spcAft>
                        <a:buNone/>
                      </a:pPr>
                      <a:r>
                        <a:rPr lang="en"/>
                        <a:t>availableNow (OneTime) </a:t>
                      </a:r>
                      <a:endParaRPr/>
                    </a:p>
                  </a:txBody>
                  <a:tcPr marT="91425" marB="91425" marR="91425" marL="91425"/>
                </a:tc>
                <a:tc>
                  <a:txBody>
                    <a:bodyPr/>
                    <a:lstStyle/>
                    <a:p>
                      <a:pPr indent="0" lvl="0" marL="0" rtl="0" algn="l">
                        <a:spcBef>
                          <a:spcPts val="0"/>
                        </a:spcBef>
                        <a:spcAft>
                          <a:spcPts val="0"/>
                        </a:spcAft>
                        <a:buNone/>
                      </a:pPr>
                      <a:r>
                        <a:rPr lang="en"/>
                        <a:t>.trigger(availableNow = True) </a:t>
                      </a:r>
                      <a:endParaRPr/>
                    </a:p>
                  </a:txBody>
                  <a:tcPr marT="91425" marB="91425" marR="91425" marL="91425"/>
                </a:tc>
                <a:tc>
                  <a:txBody>
                    <a:bodyPr/>
                    <a:lstStyle/>
                    <a:p>
                      <a:pPr indent="0" lvl="0" marL="0" rtl="0" algn="l">
                        <a:spcBef>
                          <a:spcPts val="0"/>
                        </a:spcBef>
                        <a:spcAft>
                          <a:spcPts val="0"/>
                        </a:spcAft>
                        <a:buNone/>
                      </a:pPr>
                      <a:r>
                        <a:rPr lang="en"/>
                        <a:t>consumes all available records from previous execution as an incremental batch </a:t>
                      </a:r>
                      <a:endParaRPr/>
                    </a:p>
                  </a:txBody>
                  <a:tcPr marT="91425" marB="91425" marR="91425" marL="91425"/>
                </a:tc>
              </a:tr>
              <a:tr h="381000">
                <a:tc>
                  <a:txBody>
                    <a:bodyPr/>
                    <a:lstStyle/>
                    <a:p>
                      <a:pPr indent="0" lvl="0" marL="0" rtl="0" algn="l">
                        <a:spcBef>
                          <a:spcPts val="0"/>
                        </a:spcBef>
                        <a:spcAft>
                          <a:spcPts val="0"/>
                        </a:spcAft>
                        <a:buNone/>
                      </a:pPr>
                      <a:r>
                        <a:rPr lang="en"/>
                        <a:t>Continuous (experimental) </a:t>
                      </a:r>
                      <a:endParaRPr/>
                    </a:p>
                  </a:txBody>
                  <a:tcPr marT="91425" marB="91425" marR="91425" marL="91425"/>
                </a:tc>
                <a:tc>
                  <a:txBody>
                    <a:bodyPr/>
                    <a:lstStyle/>
                    <a:p>
                      <a:pPr indent="0" lvl="0" marL="0" rtl="0" algn="l">
                        <a:spcBef>
                          <a:spcPts val="0"/>
                        </a:spcBef>
                        <a:spcAft>
                          <a:spcPts val="0"/>
                        </a:spcAft>
                        <a:buNone/>
                      </a:pPr>
                      <a:r>
                        <a:rPr lang="en"/>
                        <a:t>.trigger(continuous = ‘1 second’)</a:t>
                      </a:r>
                      <a:endParaRPr/>
                    </a:p>
                  </a:txBody>
                  <a:tcPr marT="91425" marB="91425" marR="91425" marL="91425"/>
                </a:tc>
                <a:tc>
                  <a:txBody>
                    <a:bodyPr/>
                    <a:lstStyle/>
                    <a:p>
                      <a:pPr indent="0" lvl="0" marL="0" rtl="0" algn="l">
                        <a:spcBef>
                          <a:spcPts val="0"/>
                        </a:spcBef>
                        <a:spcAft>
                          <a:spcPts val="0"/>
                        </a:spcAft>
                        <a:buNone/>
                      </a:pPr>
                      <a:r>
                        <a:rPr lang="en"/>
                        <a:t>For ~1ms latency</a:t>
                      </a:r>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Autoloader</a:t>
            </a:r>
            <a:endParaRPr/>
          </a:p>
        </p:txBody>
      </p:sp>
      <p:pic>
        <p:nvPicPr>
          <p:cNvPr id="116" name="Google Shape;116;p21"/>
          <p:cNvPicPr preferRelativeResize="0"/>
          <p:nvPr/>
        </p:nvPicPr>
        <p:blipFill>
          <a:blip r:embed="rId3">
            <a:alphaModFix/>
          </a:blip>
          <a:stretch>
            <a:fillRect/>
          </a:stretch>
        </p:blipFill>
        <p:spPr>
          <a:xfrm>
            <a:off x="538205" y="2189675"/>
            <a:ext cx="8421924" cy="2366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Autoloader</a:t>
            </a:r>
            <a:endParaRPr/>
          </a:p>
        </p:txBody>
      </p:sp>
      <p:sp>
        <p:nvSpPr>
          <p:cNvPr id="122" name="Google Shape;122;p22"/>
          <p:cNvSpPr txBox="1"/>
          <p:nvPr>
            <p:ph idx="1" type="body"/>
          </p:nvPr>
        </p:nvSpPr>
        <p:spPr>
          <a:xfrm>
            <a:off x="471900" y="1919075"/>
            <a:ext cx="8301600" cy="29598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Autoloader is an optimized data ingestion tool that incrementally and efficiently processes new data files as they arrive in the cloud storage built into the Databricks Lakehouse. </a:t>
            </a:r>
            <a:endParaRPr/>
          </a:p>
          <a:p>
            <a:pPr indent="-342900" lvl="0" marL="457200" rtl="0" algn="l">
              <a:lnSpc>
                <a:spcPct val="150000"/>
              </a:lnSpc>
              <a:spcBef>
                <a:spcPts val="0"/>
              </a:spcBef>
              <a:spcAft>
                <a:spcPts val="0"/>
              </a:spcAft>
              <a:buSzPts val="1800"/>
              <a:buChar char="●"/>
            </a:pPr>
            <a:r>
              <a:rPr lang="en"/>
              <a:t>Auto Loader incrementally and efficiently processes new data files as they arrive in cloud storage without any additional setup. </a:t>
            </a:r>
            <a:endParaRPr/>
          </a:p>
          <a:p>
            <a:pPr indent="-342900" lvl="0" marL="457200" rtl="0" algn="l">
              <a:lnSpc>
                <a:spcPct val="150000"/>
              </a:lnSpc>
              <a:spcBef>
                <a:spcPts val="0"/>
              </a:spcBef>
              <a:spcAft>
                <a:spcPts val="0"/>
              </a:spcAft>
              <a:buSzPts val="1800"/>
              <a:buChar char="●"/>
            </a:pPr>
            <a:r>
              <a:rPr lang="en"/>
              <a:t>Auto Loader can load data files from Cloud Storages without being vendor specific (AWS S3 , Azure ADLS , Google Cloud Storage, DBFS).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Autoloader</a:t>
            </a:r>
            <a:endParaRPr/>
          </a:p>
        </p:txBody>
      </p:sp>
      <p:sp>
        <p:nvSpPr>
          <p:cNvPr id="128" name="Google Shape;128;p23"/>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
              <a:t>Auto Loader can ingest JSON, CSV, PARQUET, AVRO, ORC, TEXT, and BINARYFILE file formats </a:t>
            </a:r>
            <a:endParaRPr/>
          </a:p>
          <a:p>
            <a:pPr indent="-342900" lvl="0" marL="457200" rtl="0" algn="l">
              <a:lnSpc>
                <a:spcPct val="150000"/>
              </a:lnSpc>
              <a:spcBef>
                <a:spcPts val="0"/>
              </a:spcBef>
              <a:spcAft>
                <a:spcPts val="0"/>
              </a:spcAft>
              <a:buSzPts val="1800"/>
              <a:buChar char="●"/>
            </a:pPr>
            <a:r>
              <a:rPr lang="en"/>
              <a:t>This Auto loader is beneficial when you are ingesting data into your lakehouse particularly into bronze layer as a streaming query.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Implementing Autoloader </a:t>
            </a:r>
            <a:endParaRPr/>
          </a:p>
        </p:txBody>
      </p:sp>
      <p:sp>
        <p:nvSpPr>
          <p:cNvPr id="134" name="Google Shape;134;p24"/>
          <p:cNvSpPr txBox="1"/>
          <p:nvPr>
            <p:ph idx="1" type="body"/>
          </p:nvPr>
        </p:nvSpPr>
        <p:spPr>
          <a:xfrm>
            <a:off x="471900" y="1919075"/>
            <a:ext cx="8222100" cy="30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df_str = (spark.readStream </a:t>
            </a:r>
            <a:endParaRPr/>
          </a:p>
          <a:p>
            <a:pPr indent="0" lvl="0" marL="457200" rtl="0" algn="l">
              <a:spcBef>
                <a:spcPts val="1600"/>
              </a:spcBef>
              <a:spcAft>
                <a:spcPts val="0"/>
              </a:spcAft>
              <a:buNone/>
            </a:pPr>
            <a:r>
              <a:rPr lang="en"/>
              <a:t>.format("cloudFiles") ## This will tell the spark to use AutoLoader.</a:t>
            </a:r>
            <a:endParaRPr/>
          </a:p>
          <a:p>
            <a:pPr indent="0" lvl="0" marL="457200" rtl="0" algn="l">
              <a:spcBef>
                <a:spcPts val="1600"/>
              </a:spcBef>
              <a:spcAft>
                <a:spcPts val="0"/>
              </a:spcAft>
              <a:buNone/>
            </a:pPr>
            <a:r>
              <a:rPr lang="en"/>
              <a:t> .option("cloudFiles.format","csv") ## Tells Autoloader to expect csv files</a:t>
            </a:r>
            <a:endParaRPr/>
          </a:p>
          <a:p>
            <a:pPr indent="0" lvl="0" marL="457200" rtl="0" algn="l">
              <a:spcBef>
                <a:spcPts val="1600"/>
              </a:spcBef>
              <a:spcAft>
                <a:spcPts val="0"/>
              </a:spcAft>
              <a:buNone/>
            </a:pPr>
            <a:r>
              <a:rPr lang="en"/>
              <a:t> .option('header','true') </a:t>
            </a:r>
            <a:endParaRPr/>
          </a:p>
          <a:p>
            <a:pPr indent="0" lvl="0" marL="457200" rtl="0" algn="l">
              <a:spcBef>
                <a:spcPts val="1600"/>
              </a:spcBef>
              <a:spcAft>
                <a:spcPts val="0"/>
              </a:spcAft>
              <a:buNone/>
            </a:pPr>
            <a:r>
              <a:rPr lang="en"/>
              <a:t>.schema(schema) </a:t>
            </a:r>
            <a:endParaRPr/>
          </a:p>
          <a:p>
            <a:pPr indent="0" lvl="0" marL="457200" rtl="0" algn="l">
              <a:spcBef>
                <a:spcPts val="1600"/>
              </a:spcBef>
              <a:spcAft>
                <a:spcPts val="1600"/>
              </a:spcAft>
              <a:buNone/>
            </a:pPr>
            <a:r>
              <a:rPr lang="en"/>
              <a:t>.load(f'{source_dir}') )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Schema evolution</a:t>
            </a:r>
            <a:endParaRPr/>
          </a:p>
        </p:txBody>
      </p:sp>
      <p:sp>
        <p:nvSpPr>
          <p:cNvPr id="140" name="Google Shape;140;p25"/>
          <p:cNvSpPr txBox="1"/>
          <p:nvPr>
            <p:ph idx="1" type="body"/>
          </p:nvPr>
        </p:nvSpPr>
        <p:spPr>
          <a:xfrm>
            <a:off x="264525" y="1763475"/>
            <a:ext cx="8429400" cy="28659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n" sz="2100"/>
              <a:t>Schema evolution is the process of managing changes in data schema as it evolves over time, often due to updates in software or changing business requirements, which can cause schema drift </a:t>
            </a:r>
            <a:endParaRPr sz="2100"/>
          </a:p>
          <a:p>
            <a:pPr indent="-361950" lvl="0" marL="457200" rtl="0" algn="l">
              <a:spcBef>
                <a:spcPts val="0"/>
              </a:spcBef>
              <a:spcAft>
                <a:spcPts val="0"/>
              </a:spcAft>
              <a:buSzPts val="2100"/>
              <a:buChar char="●"/>
            </a:pPr>
            <a:r>
              <a:rPr lang="en" sz="2100"/>
              <a:t>Ways to handle schema changes </a:t>
            </a:r>
            <a:endParaRPr sz="2100"/>
          </a:p>
          <a:p>
            <a:pPr indent="-336550" lvl="1" marL="914400" rtl="0" algn="l">
              <a:spcBef>
                <a:spcPts val="0"/>
              </a:spcBef>
              <a:spcAft>
                <a:spcPts val="0"/>
              </a:spcAft>
              <a:buSzPts val="1700"/>
              <a:buChar char="○"/>
            </a:pPr>
            <a:r>
              <a:rPr lang="en" sz="1700"/>
              <a:t>Fail the stream </a:t>
            </a:r>
            <a:endParaRPr sz="1700"/>
          </a:p>
          <a:p>
            <a:pPr indent="-336550" lvl="1" marL="914400" rtl="0" algn="l">
              <a:spcBef>
                <a:spcPts val="0"/>
              </a:spcBef>
              <a:spcAft>
                <a:spcPts val="0"/>
              </a:spcAft>
              <a:buSzPts val="1700"/>
              <a:buChar char="○"/>
            </a:pPr>
            <a:r>
              <a:rPr lang="en" sz="1700"/>
              <a:t>Manually change the existing schema </a:t>
            </a:r>
            <a:endParaRPr sz="1700"/>
          </a:p>
          <a:p>
            <a:pPr indent="-336550" lvl="1" marL="914400" rtl="0" algn="l">
              <a:spcBef>
                <a:spcPts val="0"/>
              </a:spcBef>
              <a:spcAft>
                <a:spcPts val="0"/>
              </a:spcAft>
              <a:buSzPts val="1700"/>
              <a:buChar char="○"/>
            </a:pPr>
            <a:r>
              <a:rPr lang="en" sz="1700"/>
              <a:t>Evolve automatically with change in schema</a:t>
            </a:r>
            <a:endParaRPr sz="17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Schema validation</a:t>
            </a:r>
            <a:endParaRPr/>
          </a:p>
        </p:txBody>
      </p:sp>
      <p:pic>
        <p:nvPicPr>
          <p:cNvPr id="146" name="Google Shape;146;p26"/>
          <p:cNvPicPr preferRelativeResize="0"/>
          <p:nvPr/>
        </p:nvPicPr>
        <p:blipFill>
          <a:blip r:embed="rId3">
            <a:alphaModFix/>
          </a:blip>
          <a:stretch>
            <a:fillRect/>
          </a:stretch>
        </p:blipFill>
        <p:spPr>
          <a:xfrm>
            <a:off x="372825" y="1982125"/>
            <a:ext cx="7930226" cy="2338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Schema validation</a:t>
            </a:r>
            <a:endParaRPr/>
          </a:p>
        </p:txBody>
      </p:sp>
      <p:pic>
        <p:nvPicPr>
          <p:cNvPr id="152" name="Google Shape;152;p27"/>
          <p:cNvPicPr preferRelativeResize="0"/>
          <p:nvPr/>
        </p:nvPicPr>
        <p:blipFill>
          <a:blip r:embed="rId3">
            <a:alphaModFix/>
          </a:blip>
          <a:stretch>
            <a:fillRect/>
          </a:stretch>
        </p:blipFill>
        <p:spPr>
          <a:xfrm>
            <a:off x="343450" y="2011525"/>
            <a:ext cx="8222099" cy="271942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Schema evolution</a:t>
            </a:r>
            <a:endParaRPr/>
          </a:p>
        </p:txBody>
      </p:sp>
      <p:sp>
        <p:nvSpPr>
          <p:cNvPr id="158" name="Google Shape;158;p28"/>
          <p:cNvSpPr txBox="1"/>
          <p:nvPr>
            <p:ph idx="1" type="body"/>
          </p:nvPr>
        </p:nvSpPr>
        <p:spPr>
          <a:xfrm>
            <a:off x="161650" y="1778175"/>
            <a:ext cx="8744100" cy="3189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addNewColumns = Stream fails. New columns are added to the schema. Existing columns do not evolve data types. </a:t>
            </a:r>
            <a:endParaRPr/>
          </a:p>
          <a:p>
            <a:pPr indent="-342900" lvl="0" marL="457200" rtl="0" algn="l">
              <a:spcBef>
                <a:spcPts val="0"/>
              </a:spcBef>
              <a:spcAft>
                <a:spcPts val="0"/>
              </a:spcAft>
              <a:buSzPts val="1800"/>
              <a:buChar char="➔"/>
            </a:pPr>
            <a:r>
              <a:rPr lang="en"/>
              <a:t>failOnNewColumns = Stream fails. Stream does not restart unless the provided schema is updated, or the offending data file is removed </a:t>
            </a:r>
            <a:endParaRPr/>
          </a:p>
          <a:p>
            <a:pPr indent="-342900" lvl="0" marL="457200" rtl="0" algn="l">
              <a:spcBef>
                <a:spcPts val="0"/>
              </a:spcBef>
              <a:spcAft>
                <a:spcPts val="0"/>
              </a:spcAft>
              <a:buSzPts val="1800"/>
              <a:buChar char="➔"/>
            </a:pPr>
            <a:r>
              <a:rPr lang="en"/>
              <a:t> rescue = Schema is never evolved and stream does not fail due to schema changes. All new columns are recorded in the rescued data column. </a:t>
            </a:r>
            <a:endParaRPr/>
          </a:p>
          <a:p>
            <a:pPr indent="-342900" lvl="0" marL="457200" rtl="0" algn="l">
              <a:spcBef>
                <a:spcPts val="0"/>
              </a:spcBef>
              <a:spcAft>
                <a:spcPts val="0"/>
              </a:spcAft>
              <a:buSzPts val="1800"/>
              <a:buChar char="➔"/>
            </a:pPr>
            <a:r>
              <a:rPr lang="en"/>
              <a:t>none = ignore any new columns (Does not evolve the schema, new columns are ignored, and data is not rescued unless the rescuedDataColumn option is set. Stream does not fail due to schema changes.)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9"/>
          <p:cNvSpPr/>
          <p:nvPr/>
        </p:nvSpPr>
        <p:spPr>
          <a:xfrm>
            <a:off x="1867101" y="958800"/>
            <a:ext cx="4611767" cy="3225891"/>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Thank</a:t>
            </a:r>
            <a:br>
              <a:rPr b="0" i="0">
                <a:ln cap="flat" cmpd="sng" w="9525">
                  <a:solidFill>
                    <a:schemeClr val="dk2"/>
                  </a:solidFill>
                  <a:prstDash val="solid"/>
                  <a:round/>
                  <a:headEnd len="sm" w="sm" type="none"/>
                  <a:tailEnd len="sm" w="sm" type="none"/>
                </a:ln>
                <a:solidFill>
                  <a:schemeClr val="lt2"/>
                </a:solidFill>
                <a:latin typeface="Arial"/>
              </a:rPr>
            </a:br>
            <a:r>
              <a:rPr b="0" i="0">
                <a:ln cap="flat" cmpd="sng" w="9525">
                  <a:solidFill>
                    <a:schemeClr val="dk2"/>
                  </a:solidFill>
                  <a:prstDash val="solid"/>
                  <a:round/>
                  <a:headEnd len="sm" w="sm" type="none"/>
                  <a:tailEnd len="sm" w="sm" type="none"/>
                </a:ln>
                <a:solidFill>
                  <a:schemeClr val="lt2"/>
                </a:solidFill>
                <a:latin typeface="Arial"/>
              </a:rPr>
              <a:t> You</a:t>
            </a:r>
          </a:p>
        </p:txBody>
      </p:sp>
      <p:sp>
        <p:nvSpPr>
          <p:cNvPr id="164" name="Google Shape;164;p29"/>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