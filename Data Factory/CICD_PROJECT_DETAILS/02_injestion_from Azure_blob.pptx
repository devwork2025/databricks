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Nunito"/>
      <p:regular r:id="rId28"/>
      <p:bold r:id="rId29"/>
      <p:italic r:id="rId30"/>
      <p:boldItalic r:id="rId31"/>
    </p:embeddedFont>
    <p:embeddedFont>
      <p:font typeface="Maven Pro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Nunito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Italic.fntdata"/><Relationship Id="rId30" Type="http://schemas.openxmlformats.org/officeDocument/2006/relationships/font" Target="fonts/Nunito-italic.fntdata"/><Relationship Id="rId11" Type="http://schemas.openxmlformats.org/officeDocument/2006/relationships/slide" Target="slides/slide6.xml"/><Relationship Id="rId33" Type="http://schemas.openxmlformats.org/officeDocument/2006/relationships/font" Target="fonts/MavenPro-bold.fntdata"/><Relationship Id="rId10" Type="http://schemas.openxmlformats.org/officeDocument/2006/relationships/slide" Target="slides/slide5.xml"/><Relationship Id="rId32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c700923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ec700923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ec700923c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ec700923c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ec700923ca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ec700923ca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ec700923ca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ec700923c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78772aa8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78772aa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78772aa89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78772aa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78772aa89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78772aa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ec700923c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ec700923c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7865a9106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7865a9106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7865a9106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7865a9106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7865a9106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7865a9106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7865a9106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7865a9106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7865a9106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7865a9106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7865a9106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7865a9106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7865a9106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7865a9106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7865a9106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7865a9106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7865a9106d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7865a9106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52731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Data Ingestion</a:t>
            </a:r>
            <a:endParaRPr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From Blob Storage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title"/>
          </p:nvPr>
        </p:nvSpPr>
        <p:spPr>
          <a:xfrm>
            <a:off x="998475" y="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060">
                <a:latin typeface="Arial"/>
                <a:ea typeface="Arial"/>
                <a:cs typeface="Arial"/>
                <a:sym typeface="Arial"/>
              </a:rPr>
              <a:t>Data Ingestion – Population Data</a:t>
            </a:r>
            <a:endParaRPr sz="1620"/>
          </a:p>
        </p:txBody>
      </p:sp>
      <p:pic>
        <p:nvPicPr>
          <p:cNvPr id="283" name="Google Shape;28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9475" y="717200"/>
            <a:ext cx="3842325" cy="12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8588" y="717200"/>
            <a:ext cx="1764100" cy="47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525" y="1989275"/>
            <a:ext cx="8127950" cy="284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4"/>
          <p:cNvPicPr preferRelativeResize="0"/>
          <p:nvPr/>
        </p:nvPicPr>
        <p:blipFill rotWithShape="1">
          <a:blip r:embed="rId6">
            <a:alphaModFix/>
          </a:blip>
          <a:srcRect b="0" l="0" r="-11881" t="-9301"/>
          <a:stretch/>
        </p:blipFill>
        <p:spPr>
          <a:xfrm>
            <a:off x="513000" y="816950"/>
            <a:ext cx="8214498" cy="441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4250"/>
            <a:ext cx="5427950" cy="343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5"/>
          <p:cNvSpPr txBox="1"/>
          <p:nvPr/>
        </p:nvSpPr>
        <p:spPr>
          <a:xfrm>
            <a:off x="5754150" y="1115600"/>
            <a:ext cx="32433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Copy Activity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marR="546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Linked Services  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marR="546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Datasets  Pipeline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marR="241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Validation Activity  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marR="241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If Condition Activity  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marR="241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Web Activity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Get Metadata Activity  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Delete Activity  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Trigger</a:t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366375" y="133875"/>
            <a:ext cx="36522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284175" y="145625"/>
            <a:ext cx="76800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❖"/>
            </a:pPr>
            <a:r>
              <a:rPr lang="en" sz="3400">
                <a:solidFill>
                  <a:schemeClr val="dk2"/>
                </a:solidFill>
              </a:rPr>
              <a:t>Data Ingestion – Population Data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Copy Activity</a:t>
            </a:r>
            <a:endParaRPr/>
          </a:p>
        </p:txBody>
      </p:sp>
      <p:sp>
        <p:nvSpPr>
          <p:cNvPr id="301" name="Google Shape;301;p16"/>
          <p:cNvSpPr txBox="1"/>
          <p:nvPr/>
        </p:nvSpPr>
        <p:spPr>
          <a:xfrm>
            <a:off x="4656300" y="1935000"/>
            <a:ext cx="3678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Azure Data Lake</a:t>
            </a:r>
            <a:endParaRPr sz="2700">
              <a:solidFill>
                <a:schemeClr val="dk2"/>
              </a:solidFill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587175" y="1597875"/>
            <a:ext cx="25506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Azure Blob Storage</a:t>
            </a:r>
            <a:endParaRPr sz="2700">
              <a:solidFill>
                <a:schemeClr val="dk2"/>
              </a:solidFill>
            </a:endParaRPr>
          </a:p>
        </p:txBody>
      </p:sp>
      <p:pic>
        <p:nvPicPr>
          <p:cNvPr id="303" name="Google Shape;3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8600" y="1934988"/>
            <a:ext cx="1820725" cy="403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6"/>
          <p:cNvSpPr txBox="1"/>
          <p:nvPr/>
        </p:nvSpPr>
        <p:spPr>
          <a:xfrm>
            <a:off x="869000" y="3288075"/>
            <a:ext cx="693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12700" rtl="0" algn="l">
              <a:lnSpc>
                <a:spcPct val="99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Ingest ”population by age” for all EU  Countries into the Data Lake to support the  machine learning models to predict increase  in Covid-19 mortality rates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8"/>
          <p:cNvSpPr txBox="1"/>
          <p:nvPr/>
        </p:nvSpPr>
        <p:spPr>
          <a:xfrm>
            <a:off x="730425" y="333500"/>
            <a:ext cx="41571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Copy Activity</a:t>
            </a:r>
            <a:endParaRPr sz="2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1"/>
          <p:cNvSpPr txBox="1"/>
          <p:nvPr/>
        </p:nvSpPr>
        <p:spPr>
          <a:xfrm>
            <a:off x="3081125" y="204350"/>
            <a:ext cx="41100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Copy Activity</a:t>
            </a:r>
            <a:endParaRPr sz="3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400">
                <a:latin typeface="Arial"/>
                <a:ea typeface="Arial"/>
                <a:cs typeface="Arial"/>
                <a:sym typeface="Arial"/>
              </a:rPr>
              <a:t>Copy Activity From Azure Blob Storage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425" y="0"/>
            <a:ext cx="4657900" cy="90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"/>
          <p:cNvSpPr txBox="1"/>
          <p:nvPr/>
        </p:nvSpPr>
        <p:spPr>
          <a:xfrm>
            <a:off x="354650" y="251325"/>
            <a:ext cx="8114400" cy="4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Nunito"/>
              <a:buChar char="❖"/>
            </a:pPr>
            <a:r>
              <a:rPr lang="en" sz="3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Handling Real World Scenarios</a:t>
            </a:r>
            <a:endParaRPr sz="3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Scenario 1: Execute Copy Activity when the file becomes available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Scenario 2: Execute Copy Activity only if file contents are as expected</a:t>
            </a:r>
            <a:endParaRPr sz="22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Scenario 3: Delete the source file on successful copy</a:t>
            </a:r>
            <a:endParaRPr sz="22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400">
                <a:latin typeface="Arial"/>
                <a:ea typeface="Arial"/>
                <a:cs typeface="Arial"/>
                <a:sym typeface="Arial"/>
              </a:rPr>
              <a:t>Scheduling Pipeline  Execution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7275" y="152400"/>
            <a:ext cx="77282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951" y="727825"/>
            <a:ext cx="2001275" cy="200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6"/>
          <p:cNvSpPr txBox="1"/>
          <p:nvPr/>
        </p:nvSpPr>
        <p:spPr>
          <a:xfrm>
            <a:off x="205625" y="2729100"/>
            <a:ext cx="2532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2"/>
                </a:solidFill>
              </a:rPr>
              <a:t>Triggers</a:t>
            </a:r>
            <a:endParaRPr sz="4400">
              <a:solidFill>
                <a:schemeClr val="dk2"/>
              </a:solidFill>
            </a:endParaRPr>
          </a:p>
        </p:txBody>
      </p:sp>
      <p:pic>
        <p:nvPicPr>
          <p:cNvPr id="362" name="Google Shape;36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0627" y="375525"/>
            <a:ext cx="1331925" cy="13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6038" y="1901775"/>
            <a:ext cx="1331925" cy="1339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62925" y="3591000"/>
            <a:ext cx="1735050" cy="10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6"/>
          <p:cNvSpPr txBox="1"/>
          <p:nvPr/>
        </p:nvSpPr>
        <p:spPr>
          <a:xfrm>
            <a:off x="5557875" y="77987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Schedule Trigger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366" name="Google Shape;366;p26"/>
          <p:cNvSpPr txBox="1"/>
          <p:nvPr/>
        </p:nvSpPr>
        <p:spPr>
          <a:xfrm>
            <a:off x="5557875" y="2193100"/>
            <a:ext cx="341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Tumbling Window Trigger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367" name="Google Shape;367;p26"/>
          <p:cNvSpPr txBox="1"/>
          <p:nvPr/>
        </p:nvSpPr>
        <p:spPr>
          <a:xfrm>
            <a:off x="5695450" y="374602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Event Trigger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0300" y="152400"/>
            <a:ext cx="77282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525" y="739550"/>
            <a:ext cx="1529076" cy="1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7"/>
          <p:cNvSpPr txBox="1"/>
          <p:nvPr/>
        </p:nvSpPr>
        <p:spPr>
          <a:xfrm>
            <a:off x="490700" y="2736125"/>
            <a:ext cx="24096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</a:rPr>
              <a:t>Schedule  Trigger</a:t>
            </a:r>
            <a:endParaRPr sz="3500">
              <a:solidFill>
                <a:schemeClr val="dk2"/>
              </a:solidFill>
            </a:endParaRPr>
          </a:p>
        </p:txBody>
      </p:sp>
      <p:sp>
        <p:nvSpPr>
          <p:cNvPr id="375" name="Google Shape;375;p27"/>
          <p:cNvSpPr txBox="1"/>
          <p:nvPr/>
        </p:nvSpPr>
        <p:spPr>
          <a:xfrm>
            <a:off x="3438275" y="622375"/>
            <a:ext cx="491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Runs on a calendar/ Clock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76" name="Google Shape;376;p27"/>
          <p:cNvSpPr txBox="1"/>
          <p:nvPr/>
        </p:nvSpPr>
        <p:spPr>
          <a:xfrm>
            <a:off x="3438275" y="1349525"/>
            <a:ext cx="5031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Supports periodic and specific times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377" name="Google Shape;377;p27"/>
          <p:cNvSpPr txBox="1"/>
          <p:nvPr/>
        </p:nvSpPr>
        <p:spPr>
          <a:xfrm>
            <a:off x="3438275" y="2162425"/>
            <a:ext cx="46314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Trigger to Pipeline is Many to Many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378" name="Google Shape;378;p27"/>
          <p:cNvSpPr txBox="1"/>
          <p:nvPr/>
        </p:nvSpPr>
        <p:spPr>
          <a:xfrm>
            <a:off x="3438275" y="3158900"/>
            <a:ext cx="51132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Can only be scheduled for a future time to start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8825" y="697550"/>
            <a:ext cx="1682050" cy="201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6000" y="152400"/>
            <a:ext cx="77282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8"/>
          <p:cNvSpPr txBox="1"/>
          <p:nvPr/>
        </p:nvSpPr>
        <p:spPr>
          <a:xfrm>
            <a:off x="587150" y="2717375"/>
            <a:ext cx="21513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2700" rtl="0" algn="l">
              <a:lnSpc>
                <a:spcPct val="99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2"/>
                </a:solidFill>
              </a:rPr>
              <a:t>Tumbling  Window  Trigger</a:t>
            </a:r>
            <a:endParaRPr sz="3400">
              <a:solidFill>
                <a:schemeClr val="dk2"/>
              </a:solidFill>
            </a:endParaRPr>
          </a:p>
        </p:txBody>
      </p:sp>
      <p:sp>
        <p:nvSpPr>
          <p:cNvPr id="386" name="Google Shape;386;p28"/>
          <p:cNvSpPr txBox="1"/>
          <p:nvPr/>
        </p:nvSpPr>
        <p:spPr>
          <a:xfrm>
            <a:off x="3605150" y="378600"/>
            <a:ext cx="5134200" cy="46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Runs at periodic intervals</a:t>
            </a:r>
            <a:endParaRPr sz="2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Windows are fixed sized, non-overlapping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Can be scheduled for the past windows/  slices</a:t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Trigger to Pipeline is one to one</a:t>
            </a:r>
            <a:endParaRPr sz="2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700" y="504700"/>
            <a:ext cx="1516650" cy="193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9"/>
          <p:cNvSpPr txBox="1"/>
          <p:nvPr/>
        </p:nvSpPr>
        <p:spPr>
          <a:xfrm>
            <a:off x="745200" y="2689200"/>
            <a:ext cx="21630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</a:rPr>
              <a:t>Event  Trigger</a:t>
            </a:r>
            <a:endParaRPr sz="3500">
              <a:solidFill>
                <a:schemeClr val="dk2"/>
              </a:solidFill>
            </a:endParaRPr>
          </a:p>
        </p:txBody>
      </p:sp>
      <p:pic>
        <p:nvPicPr>
          <p:cNvPr id="393" name="Google Shape;39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6000" y="152400"/>
            <a:ext cx="77282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9"/>
          <p:cNvSpPr txBox="1"/>
          <p:nvPr/>
        </p:nvSpPr>
        <p:spPr>
          <a:xfrm>
            <a:off x="3546425" y="1174300"/>
            <a:ext cx="5380800" cy="26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Runs in response to events</a:t>
            </a:r>
            <a:endParaRPr sz="2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-368300" lvl="0" marL="457200" marR="12700" rtl="0" algn="l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Events can be creation or deletion of Blobs/  Files</a:t>
            </a:r>
            <a:endParaRPr sz="2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Trigger to Pipeline is Many to Many</a:t>
            </a:r>
            <a:endParaRPr sz="2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0"/>
          <p:cNvSpPr txBox="1"/>
          <p:nvPr>
            <p:ph type="ctrTitle"/>
          </p:nvPr>
        </p:nvSpPr>
        <p:spPr>
          <a:xfrm>
            <a:off x="1141050" y="1684288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Thank You</a:t>
            </a:r>
            <a:endParaRPr sz="5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