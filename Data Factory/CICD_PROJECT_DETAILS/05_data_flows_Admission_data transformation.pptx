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oboto"/>
      <p:regular r:id="rId20"/>
      <p:bold r:id="rId21"/>
      <p:italic r:id="rId22"/>
      <p:boldItalic r:id="rId23"/>
    </p:embeddedFont>
    <p:embeddedFont>
      <p:font typeface="Nunito"/>
      <p:regular r:id="rId24"/>
      <p:bold r:id="rId25"/>
      <p:italic r:id="rId26"/>
      <p:boldItalic r:id="rId27"/>
    </p:embeddedFont>
    <p:embeddedFont>
      <p:font typeface="Maven Pro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Nunito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unito-italic.fntdata"/><Relationship Id="rId25" Type="http://schemas.openxmlformats.org/officeDocument/2006/relationships/font" Target="fonts/Nunito-bold.fntdata"/><Relationship Id="rId28" Type="http://schemas.openxmlformats.org/officeDocument/2006/relationships/font" Target="fonts/MavenPro-regular.fntdata"/><Relationship Id="rId27" Type="http://schemas.openxmlformats.org/officeDocument/2006/relationships/font" Target="fonts/Nuni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avenPr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ec700923ca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2ec700923ca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ec700923ca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ec700923ca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ec700923ca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ec700923ca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ec700923ca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ec700923ca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ec700923ca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2ec700923ca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ed148ea0b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2ed148ea0b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ed148ea0b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2ed148ea0b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2ed148ea0b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2ed148ea0b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ed148ea0b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2ed148ea0b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2ed148ea0b6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2ed148ea0b6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2ed148ea0b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2ed148ea0b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ed148ea0b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2ed148ea0b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2ed148ea0b6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2ed148ea0b6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283800" y="1977850"/>
            <a:ext cx="66000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Data Flows-</a:t>
            </a:r>
            <a:endParaRPr sz="4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Hospital Admission File</a:t>
            </a:r>
            <a:endParaRPr sz="3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75" y="1415950"/>
            <a:ext cx="5169326" cy="3410475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14"/>
          <p:cNvSpPr txBox="1"/>
          <p:nvPr/>
        </p:nvSpPr>
        <p:spPr>
          <a:xfrm>
            <a:off x="5310300" y="462600"/>
            <a:ext cx="3833700" cy="46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lang="en" sz="1700">
                <a:solidFill>
                  <a:schemeClr val="dk2"/>
                </a:solidFill>
              </a:rPr>
              <a:t>Requirement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marR="901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lang="en" sz="1700">
                <a:solidFill>
                  <a:schemeClr val="dk2"/>
                </a:solidFill>
              </a:rPr>
              <a:t>Source Transformation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marR="901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lang="en" sz="1700">
                <a:solidFill>
                  <a:schemeClr val="dk2"/>
                </a:solidFill>
              </a:rPr>
              <a:t>Select Transformation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marR="901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lang="en" sz="1700">
                <a:solidFill>
                  <a:schemeClr val="dk2"/>
                </a:solidFill>
              </a:rPr>
              <a:t>Lookup Transformation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marR="901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lang="en" sz="1700">
                <a:solidFill>
                  <a:schemeClr val="dk2"/>
                </a:solidFill>
              </a:rPr>
              <a:t>Pivot Transformation  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marR="901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lang="en" sz="1700">
                <a:solidFill>
                  <a:schemeClr val="dk2"/>
                </a:solidFill>
              </a:rPr>
              <a:t>Sink Transformation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marR="127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lang="en" sz="1700">
                <a:solidFill>
                  <a:schemeClr val="dk2"/>
                </a:solidFill>
              </a:rPr>
              <a:t>Conditional Split Transformation  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marR="127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lang="en" sz="1700">
                <a:solidFill>
                  <a:schemeClr val="dk2"/>
                </a:solidFill>
              </a:rPr>
              <a:t>Derived Column Transformation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marR="127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lang="en" sz="1700">
                <a:solidFill>
                  <a:schemeClr val="dk2"/>
                </a:solidFill>
              </a:rPr>
              <a:t>Aggregate Transformation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marR="1231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lang="en" sz="1700">
                <a:solidFill>
                  <a:schemeClr val="dk2"/>
                </a:solidFill>
              </a:rPr>
              <a:t>Sort Transformation 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marR="1231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lang="en" sz="1700">
                <a:solidFill>
                  <a:schemeClr val="dk2"/>
                </a:solidFill>
              </a:rPr>
              <a:t>Join Transformation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lang="en" sz="1700">
                <a:solidFill>
                  <a:schemeClr val="dk2"/>
                </a:solidFill>
              </a:rPr>
              <a:t>Create Pipeline</a:t>
            </a:r>
            <a:endParaRPr sz="19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" name="Google Shape;284;p14"/>
          <p:cNvSpPr txBox="1"/>
          <p:nvPr/>
        </p:nvSpPr>
        <p:spPr>
          <a:xfrm>
            <a:off x="47000" y="231300"/>
            <a:ext cx="5369100" cy="7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Data Flow-Case &amp;Death Data</a:t>
            </a:r>
            <a:endParaRPr b="1" sz="290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7"/>
          <p:cNvSpPr txBox="1"/>
          <p:nvPr>
            <p:ph type="title"/>
          </p:nvPr>
        </p:nvSpPr>
        <p:spPr>
          <a:xfrm>
            <a:off x="824000" y="1613825"/>
            <a:ext cx="65649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 Transformation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8"/>
          <p:cNvSpPr txBox="1"/>
          <p:nvPr>
            <p:ph type="title"/>
          </p:nvPr>
        </p:nvSpPr>
        <p:spPr>
          <a:xfrm>
            <a:off x="1303800" y="598575"/>
            <a:ext cx="7030500" cy="13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4400">
                <a:latin typeface="Arial"/>
                <a:ea typeface="Arial"/>
                <a:cs typeface="Arial"/>
                <a:sym typeface="Arial"/>
              </a:rPr>
              <a:t>Select Transformation</a:t>
            </a:r>
            <a:endParaRPr b="0" sz="4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latin typeface="Arial"/>
                <a:ea typeface="Arial"/>
                <a:cs typeface="Arial"/>
                <a:sym typeface="Arial"/>
              </a:rPr>
              <a:t>Assignment</a:t>
            </a:r>
            <a:endParaRPr/>
          </a:p>
        </p:txBody>
      </p:sp>
      <p:sp>
        <p:nvSpPr>
          <p:cNvPr id="305" name="Google Shape;305;p18"/>
          <p:cNvSpPr txBox="1"/>
          <p:nvPr>
            <p:ph idx="1" type="body"/>
          </p:nvPr>
        </p:nvSpPr>
        <p:spPr>
          <a:xfrm>
            <a:off x="904550" y="235410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" sz="2000">
                <a:latin typeface="Arial"/>
                <a:ea typeface="Arial"/>
                <a:cs typeface="Arial"/>
                <a:sym typeface="Arial"/>
              </a:rPr>
              <a:t>Remove url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" sz="2000">
                <a:latin typeface="Arial"/>
                <a:ea typeface="Arial"/>
                <a:cs typeface="Arial"/>
                <a:sym typeface="Arial"/>
              </a:rPr>
              <a:t>Rename date to reported_date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" sz="2000">
                <a:latin typeface="Arial"/>
                <a:ea typeface="Arial"/>
                <a:cs typeface="Arial"/>
                <a:sym typeface="Arial"/>
              </a:rPr>
              <a:t>Rename year_week to reported_year_week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4400">
                <a:latin typeface="Arial"/>
                <a:ea typeface="Arial"/>
                <a:cs typeface="Arial"/>
                <a:sym typeface="Arial"/>
              </a:rPr>
              <a:t>Lookup Transformation</a:t>
            </a:r>
            <a:endParaRPr b="0" sz="4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latin typeface="Arial"/>
                <a:ea typeface="Arial"/>
                <a:cs typeface="Arial"/>
                <a:sym typeface="Arial"/>
              </a:rPr>
              <a:t>Assignment</a:t>
            </a:r>
            <a:endParaRPr/>
          </a:p>
        </p:txBody>
      </p:sp>
      <p:sp>
        <p:nvSpPr>
          <p:cNvPr id="311" name="Google Shape;311;p19"/>
          <p:cNvSpPr txBox="1"/>
          <p:nvPr>
            <p:ph idx="1" type="body"/>
          </p:nvPr>
        </p:nvSpPr>
        <p:spPr>
          <a:xfrm>
            <a:off x="892775" y="2471525"/>
            <a:ext cx="7030500" cy="20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" sz="2000">
                <a:latin typeface="Arial"/>
                <a:ea typeface="Arial"/>
                <a:cs typeface="Arial"/>
                <a:sym typeface="Arial"/>
              </a:rPr>
              <a:t>Lookup country file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" sz="2000">
                <a:latin typeface="Arial"/>
                <a:ea typeface="Arial"/>
                <a:cs typeface="Arial"/>
                <a:sym typeface="Arial"/>
              </a:rPr>
              <a:t>Select only required fields (i.e. remove additional fields from lookup</a:t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0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Pivot Transformation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 &amp; Sink Transformation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6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Data Flow Execution</a:t>
            </a:r>
            <a:endParaRPr sz="3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