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5"/>
  </p:notesMasterIdLst>
  <p:sldIdLst>
    <p:sldId id="256" r:id="rId2"/>
    <p:sldId id="257" r:id="rId3"/>
    <p:sldId id="309" r:id="rId4"/>
    <p:sldId id="310" r:id="rId5"/>
    <p:sldId id="258" r:id="rId6"/>
    <p:sldId id="259" r:id="rId7"/>
    <p:sldId id="260" r:id="rId8"/>
    <p:sldId id="261" r:id="rId9"/>
    <p:sldId id="262" r:id="rId10"/>
    <p:sldId id="265" r:id="rId11"/>
    <p:sldId id="311" r:id="rId12"/>
    <p:sldId id="263" r:id="rId13"/>
    <p:sldId id="264" r:id="rId14"/>
    <p:sldId id="266" r:id="rId15"/>
    <p:sldId id="267" r:id="rId16"/>
    <p:sldId id="272" r:id="rId17"/>
    <p:sldId id="268" r:id="rId18"/>
    <p:sldId id="269" r:id="rId19"/>
    <p:sldId id="277" r:id="rId20"/>
    <p:sldId id="278" r:id="rId21"/>
    <p:sldId id="307" r:id="rId22"/>
    <p:sldId id="279" r:id="rId23"/>
    <p:sldId id="280" r:id="rId24"/>
    <p:sldId id="286" r:id="rId25"/>
    <p:sldId id="281" r:id="rId26"/>
    <p:sldId id="283" r:id="rId27"/>
    <p:sldId id="284" r:id="rId28"/>
    <p:sldId id="285" r:id="rId29"/>
    <p:sldId id="287" r:id="rId30"/>
    <p:sldId id="288" r:id="rId31"/>
    <p:sldId id="290" r:id="rId32"/>
    <p:sldId id="289" r:id="rId33"/>
    <p:sldId id="291" r:id="rId34"/>
    <p:sldId id="292" r:id="rId35"/>
    <p:sldId id="293" r:id="rId36"/>
    <p:sldId id="295" r:id="rId37"/>
    <p:sldId id="294" r:id="rId38"/>
    <p:sldId id="296" r:id="rId39"/>
    <p:sldId id="297" r:id="rId40"/>
    <p:sldId id="298" r:id="rId41"/>
    <p:sldId id="299" r:id="rId42"/>
    <p:sldId id="301" r:id="rId43"/>
    <p:sldId id="300" r:id="rId44"/>
    <p:sldId id="302" r:id="rId45"/>
    <p:sldId id="303" r:id="rId46"/>
    <p:sldId id="304" r:id="rId47"/>
    <p:sldId id="305" r:id="rId48"/>
    <p:sldId id="306" r:id="rId49"/>
    <p:sldId id="282" r:id="rId50"/>
    <p:sldId id="273" r:id="rId51"/>
    <p:sldId id="274" r:id="rId52"/>
    <p:sldId id="275" r:id="rId53"/>
    <p:sldId id="271" r:id="rId54"/>
  </p:sldIdLst>
  <p:sldSz cx="9144000" cy="5143500" type="screen16x9"/>
  <p:notesSz cx="6858000" cy="9144000"/>
  <p:embeddedFontLst>
    <p:embeddedFont>
      <p:font typeface="Maven Pro" panose="020B0604020202020204" charset="0"/>
      <p:regular r:id="rId56"/>
      <p:bold r:id="rId57"/>
    </p:embeddedFont>
    <p:embeddedFont>
      <p:font typeface="Nunito" pitchFamily="2" charset="0"/>
      <p:regular r:id="rId58"/>
      <p:bold r:id="rId59"/>
      <p:italic r:id="rId60"/>
      <p:boldItalic r:id="rId61"/>
    </p:embeddedFont>
    <p:embeddedFont>
      <p:font typeface="Roboto" panose="02000000000000000000" pitchFamily="2" charset="0"/>
      <p:regular r:id="rId62"/>
      <p:bold r:id="rId63"/>
      <p:italic r:id="rId64"/>
      <p:boldItalic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9" d="100"/>
          <a:sy n="119" d="100"/>
        </p:scale>
        <p:origin x="418"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8.fntdata"/><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3.fntdata"/><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6.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1.fntdata"/><Relationship Id="rId64" Type="http://schemas.openxmlformats.org/officeDocument/2006/relationships/font" Target="fonts/font9.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4.fntdata"/><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5.fntdata"/><Relationship Id="rId65"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4T09:28:08.374"/>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53,'12'-4,"0"0,1 1,0 0,0 1,-1 0,19 1,6-2,591-27,-606 31,38 7,-36-4,35 1,10 4,2-1,15 1,-60-5,40 1,-9-3,68 12,-28-2,360-3,-277-11,-137 4,30-1,-66-1,-1-1,1 0,-1 0,0 0,1-1,-1 0,0 0,9-5,27-14,-31 14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4T09:28:14.552"/>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55,'194'-11,"-103"4,120-11,-150 9,-32 5,38-1,-51 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4T09:28:15.181"/>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4T09:28:19"/>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1,'97'0,"-1"3,174 29,-207-19,1-3,123 4,169-1,2-7,-205-8,15-7,10 0,-137 7,81-14,-80 9,75-4,-18 12,-80-1</inkml:trace>
</inkml:ink>
</file>

<file path=ppt/ink/ink5.xml><?xml version="1.0" encoding="utf-8"?>
<inkml:ink xmlns:inkml="http://www.w3.org/2003/InkML">
  <inkml:definitions>
    <inkml:context xml:id="ctx0">
      <inkml:inkSource xml:id="inkSrc0">
        <inkml:traceFormat>
          <inkml:channel name="X" type="integer" max="3840" units="cm"/>
          <inkml:channel name="Y" type="integer" max="1200" units="cm"/>
          <inkml:channel name="T" type="integer" max="2.14748E9" units="dev"/>
        </inkml:traceFormat>
        <inkml:channelProperties>
          <inkml:channelProperty channel="X" name="resolution" value="111.62791" units="1/cm"/>
          <inkml:channelProperty channel="Y" name="resolution" value="55.81395" units="1/cm"/>
          <inkml:channelProperty channel="T" name="resolution" value="1" units="1/dev"/>
        </inkml:channelProperties>
      </inkml:inkSource>
      <inkml:timestamp xml:id="ts0" timeString="2024-10-07T10:39:35.36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3753 12231 0,'42'0'250,"22"-21"-250,21 21 15,-43 0-15,22 0 0,-43 0 16,42-21-16,-20 21 16,-1 0-16,-21 0 15,1 0 1,-1 0-16,21 0 31,-21-21 32,1 21-63,20 0 15,-21 0-15,0-22 0,64 22 16,-42 0-16,-22-21 15,21 21-15,22 0 16,-43 0-16,21 0 0,-20 0 16,-1 0-1,0 0 17,0 0-1,0 0-31,22 0 15,-1-21-15,1 21 0,-22 0 16,42-21-16,-20 21 16,-22 0-16,0 0 15,0 0 1,1 0 15,20 0 16,-21 0 94,1 0-94,-1 0 15,0 21 1,-21 0 15,0 0 828,0 1-828,0-1 16,0 0-47,-21-21-16,0 21-31,-1-21 16,1 0-16,0 0 15,-22 21 1,22-21-1,0 0 17,21 43-1,-21-43-31,0 21 31,-1-21-15,1 0-16,-21 0 31,21 0 94,-1 0-94,1 0-31,0 0 16,0 0 0,0 0-16,-22 0 15,22 0 32,-21 0-16,20 0-15,1 0-16,0 0 16,-21 0-16,42-42 15,-22 42-15,1 0 16,0 0-16,0-22 15,0 22-15,-1-21 16,-20 21 0,21 0-1,0 0 1,-1 0 0,1 0-1,0 0 1,0 0-16,-22 0 15,22 0 17,0 0-32,0 0 15,0 0 1,-1 0 0,1 0-16,0 0 15,0 0 1,0 0-1,-1 0 1,1 0 0,0 0 31,0 0-47,-43 0 0,43 0 15,0 0 1,0 0-16,-1 0 47,-20 0-32,0 0 1,20 0-16,1 0 16,-21 0-16,21 0 15,21 21-15,-22-21 16,-41 0-16,42 0 15,-1 0 32,1 0 0,21 43-16,-42-22-15,21 0-16,-1-21 0,1 0 16,0 0-16,0 21 15,0 1 1,-1-22 0,22 21-1,-21-21 16,0 0 1,42 0 108,0 0-124,1 21-16,-1-21 16,0 0-16,0 42 15,22-42-15,-1 21 16,0-21-16,-20 22 15,-1-22-15,21 0 16,-21 0 0,1 0 15,-1 0-15,0 0-16,21 0 15,1 0 1,-22 0-1,0 0-15,0 0 16,1 0 0,-1 0-16,0 0 15,21 0 1,-20 0-16,-1 0 16,0 0-1,0 0 16,0 0-15,1 0 31,20 0 31,-21 0-31,0 0 0,-21-22-47,22 22 15,-1 0-15,0 0 16,0 0-16,22 0 31,-1-42-15,-21 42 0,22 0-1,-1 0-15,22 0 16,-43 0-16,0 0 15,0 0-15,0 0 16,1 0 0,20 0 31,-21 0-47,0 0 15,22 0 1,-22 0-16,0 0 15,22 0 1,-22-21 0,0 21-16,0 0 15,0 0 1,1 0 15,-22-21-15,21 21-1,42 0 17,-41 0-17,-1 0 48,0 0-32,0 0 47,0 0-47,22 0 32,-22 0-47,0 0 15,1 0 0,-1 0 16,-21 21 0,0 21 0,0-21 78,0 1-63,-21-22 1,21 21-48,0 0 17,-22-21-1,1 0 0,-21 0 0,20 0 47,1 0-46,0 0-17,0 0 1,0 0 46,-43 0-62,43 21 0,0-21 32,-1 0-17,1 0 17,-85 21-1,64-21-16,21 0-15,-1 0 16,1 0 0,-64 43-16,22-43 15,20 21-15,22-21 0,-21 0 16,21 0-16,-1 0 16,1 21-1,0-21 1,-21 0-1,20 0-15,-41 0 16,-1 21 0,43-21-16,0 0 0,-22 0 15,22 0-15,0 0 16,0 0 0,0 0 46,-1 0-31,-20 0 1,-22 0-17,43 0-15,-42 0 0,20 0 16,-20-21-16,20 21 0,22 0 15,21-21 1,-21 21-16,0 0 16,-1 0 31,22-42 109,0 20-62,0 1-16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ec700923ca_0_2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2ec700923ca_0_2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4FABE5DB-6223-6ABD-9666-466AD2DB5C5D}"/>
            </a:ext>
          </a:extLst>
        </p:cNvPr>
        <p:cNvGrpSpPr/>
        <p:nvPr/>
      </p:nvGrpSpPr>
      <p:grpSpPr>
        <a:xfrm>
          <a:off x="0" y="0"/>
          <a:ext cx="0" cy="0"/>
          <a:chOff x="0" y="0"/>
          <a:chExt cx="0" cy="0"/>
        </a:xfrm>
      </p:grpSpPr>
      <p:sp>
        <p:nvSpPr>
          <p:cNvPr id="298" name="Google Shape;298;g2ec700923ca_0_283:notes">
            <a:extLst>
              <a:ext uri="{FF2B5EF4-FFF2-40B4-BE49-F238E27FC236}">
                <a16:creationId xmlns:a16="http://schemas.microsoft.com/office/drawing/2014/main" id="{297DA36A-AA9F-2611-B5DB-A6D06F2E37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2ec700923ca_0_283:notes">
            <a:extLst>
              <a:ext uri="{FF2B5EF4-FFF2-40B4-BE49-F238E27FC236}">
                <a16:creationId xmlns:a16="http://schemas.microsoft.com/office/drawing/2014/main" id="{738A54D3-A6EE-ABF7-F862-5C2E994F59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66118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ec700923ca_0_2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2ec700923ca_0_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2ec700923ca_0_2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2ec700923ca_0_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2ec700923ca_0_2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2ec700923ca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2ec700923ca_0_2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2ec700923ca_0_2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2ec776cd464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2ec776cd464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2ec776cd464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2ec776cd464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2ec776cd464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2ec776cd464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ec776cd464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ec776cd464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2ec776cd464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2ec776cd464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2ec776cd46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2ec776cd46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2ec776cd464_0_6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2ec776cd464_0_6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2ec776cd464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3" name="Google Shape;373;g2ec776cd464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2786365eb2c_0_5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2786365eb2c_0_5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rmAutofit/>
          </a:bodyPr>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0"/>
              </a:spcBef>
              <a:spcAft>
                <a:spcPts val="0"/>
              </a:spcAft>
              <a:buClr>
                <a:schemeClr val="lt1"/>
              </a:buClr>
              <a:buSzPts val="1100"/>
              <a:buChar char="○"/>
              <a:defRPr>
                <a:solidFill>
                  <a:schemeClr val="lt1"/>
                </a:solidFill>
              </a:defRPr>
            </a:lvl2pPr>
            <a:lvl3pPr marL="1371600" lvl="2" indent="-298450" algn="ctr">
              <a:spcBef>
                <a:spcPts val="0"/>
              </a:spcBef>
              <a:spcAft>
                <a:spcPts val="0"/>
              </a:spcAft>
              <a:buClr>
                <a:schemeClr val="lt1"/>
              </a:buClr>
              <a:buSzPts val="1100"/>
              <a:buChar char="■"/>
              <a:defRPr>
                <a:solidFill>
                  <a:schemeClr val="lt1"/>
                </a:solidFill>
              </a:defRPr>
            </a:lvl3pPr>
            <a:lvl4pPr marL="1828800" lvl="3" indent="-298450" algn="ctr">
              <a:spcBef>
                <a:spcPts val="0"/>
              </a:spcBef>
              <a:spcAft>
                <a:spcPts val="0"/>
              </a:spcAft>
              <a:buClr>
                <a:schemeClr val="lt1"/>
              </a:buClr>
              <a:buSzPts val="1100"/>
              <a:buChar char="●"/>
              <a:defRPr>
                <a:solidFill>
                  <a:schemeClr val="lt1"/>
                </a:solidFill>
              </a:defRPr>
            </a:lvl4pPr>
            <a:lvl5pPr marL="2286000" lvl="4" indent="-298450" algn="ctr">
              <a:spcBef>
                <a:spcPts val="0"/>
              </a:spcBef>
              <a:spcAft>
                <a:spcPts val="0"/>
              </a:spcAft>
              <a:buClr>
                <a:schemeClr val="lt1"/>
              </a:buClr>
              <a:buSzPts val="1100"/>
              <a:buChar char="○"/>
              <a:defRPr>
                <a:solidFill>
                  <a:schemeClr val="lt1"/>
                </a:solidFill>
              </a:defRPr>
            </a:lvl5pPr>
            <a:lvl6pPr marL="2743200" lvl="5" indent="-298450" algn="ctr">
              <a:spcBef>
                <a:spcPts val="0"/>
              </a:spcBef>
              <a:spcAft>
                <a:spcPts val="0"/>
              </a:spcAft>
              <a:buClr>
                <a:schemeClr val="lt1"/>
              </a:buClr>
              <a:buSzPts val="1100"/>
              <a:buChar char="■"/>
              <a:defRPr>
                <a:solidFill>
                  <a:schemeClr val="lt1"/>
                </a:solidFill>
              </a:defRPr>
            </a:lvl6pPr>
            <a:lvl7pPr marL="3200400" lvl="6" indent="-298450" algn="ctr">
              <a:spcBef>
                <a:spcPts val="0"/>
              </a:spcBef>
              <a:spcAft>
                <a:spcPts val="0"/>
              </a:spcAft>
              <a:buClr>
                <a:schemeClr val="lt1"/>
              </a:buClr>
              <a:buSzPts val="1100"/>
              <a:buChar char="●"/>
              <a:defRPr>
                <a:solidFill>
                  <a:schemeClr val="lt1"/>
                </a:solidFill>
              </a:defRPr>
            </a:lvl7pPr>
            <a:lvl8pPr marL="3657600" lvl="7" indent="-298450" algn="ctr">
              <a:spcBef>
                <a:spcPts val="0"/>
              </a:spcBef>
              <a:spcAft>
                <a:spcPts val="0"/>
              </a:spcAft>
              <a:buClr>
                <a:schemeClr val="lt1"/>
              </a:buClr>
              <a:buSzPts val="1100"/>
              <a:buChar char="○"/>
              <a:defRPr>
                <a:solidFill>
                  <a:schemeClr val="lt1"/>
                </a:solidFill>
              </a:defRPr>
            </a:lvl8pPr>
            <a:lvl9pPr marL="4114800" lvl="8" indent="-298450" algn="ctr">
              <a:spcBef>
                <a:spcPts val="0"/>
              </a:spcBef>
              <a:spcAft>
                <a:spcPts val="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15.png"/><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customXml" Target="../ink/ink2.xml"/><Relationship Id="rId10" Type="http://schemas.openxmlformats.org/officeDocument/2006/relationships/image" Target="../media/image19.png"/><Relationship Id="rId4" Type="http://schemas.openxmlformats.org/officeDocument/2006/relationships/image" Target="../media/image16.png"/><Relationship Id="rId9" Type="http://schemas.openxmlformats.org/officeDocument/2006/relationships/customXml" Target="../ink/ink4.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26.png"/><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hyperlink" Target="https://ochzhen.com/blog/dates-and-timestamps-in-data-factory#:~:text=By%20default,%20Data%20Factory%E2%80%99s%20date%20functions%20use%20ISO" TargetMode="Externa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sz="4700"/>
              <a:t>Azure Data factory</a:t>
            </a:r>
            <a:endParaRPr sz="4700"/>
          </a:p>
        </p:txBody>
      </p:sp>
      <p:sp>
        <p:nvSpPr>
          <p:cNvPr id="278" name="Google Shape;278;p13"/>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AutoNum type="arabicPeriod"/>
            </a:pPr>
            <a:r>
              <a:rPr lang="en"/>
              <a:t>Introduction and set up</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4"/>
          <p:cNvSpPr txBox="1">
            <a:spLocks noGrp="1"/>
          </p:cNvSpPr>
          <p:nvPr>
            <p:ph type="title" idx="4294967295"/>
          </p:nvPr>
        </p:nvSpPr>
        <p:spPr>
          <a:xfrm>
            <a:off x="847475" y="408750"/>
            <a:ext cx="7030500" cy="4326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300" dirty="0"/>
              <a:t>What is Azure data factory</a:t>
            </a:r>
            <a:endParaRPr sz="3300" dirty="0"/>
          </a:p>
        </p:txBody>
      </p:sp>
      <p:sp>
        <p:nvSpPr>
          <p:cNvPr id="284" name="Google Shape;284;p14"/>
          <p:cNvSpPr txBox="1">
            <a:spLocks noGrp="1"/>
          </p:cNvSpPr>
          <p:nvPr>
            <p:ph type="body" idx="4294967295"/>
          </p:nvPr>
        </p:nvSpPr>
        <p:spPr>
          <a:xfrm>
            <a:off x="1303800" y="1649500"/>
            <a:ext cx="7030500" cy="32403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None/>
            </a:pPr>
            <a:r>
              <a:rPr lang="en" sz="2100"/>
              <a:t>A fully managed, serverless data integration solution for ingesting,</a:t>
            </a:r>
            <a:endParaRPr sz="2100"/>
          </a:p>
          <a:p>
            <a:pPr marL="0" lvl="0" indent="0" algn="l" rtl="0">
              <a:lnSpc>
                <a:spcPct val="95000"/>
              </a:lnSpc>
              <a:spcBef>
                <a:spcPts val="1200"/>
              </a:spcBef>
              <a:spcAft>
                <a:spcPts val="0"/>
              </a:spcAft>
              <a:buNone/>
            </a:pPr>
            <a:r>
              <a:rPr lang="en" sz="2100"/>
              <a:t>preparing and transforming all of your data at scale.</a:t>
            </a:r>
            <a:endParaRPr sz="2100"/>
          </a:p>
          <a:p>
            <a:pPr marL="0" lvl="0" indent="0" algn="l" rtl="0">
              <a:lnSpc>
                <a:spcPct val="95000"/>
              </a:lnSpc>
              <a:spcBef>
                <a:spcPts val="1200"/>
              </a:spcBef>
              <a:spcAft>
                <a:spcPts val="0"/>
              </a:spcAft>
              <a:buNone/>
            </a:pPr>
            <a:endParaRPr sz="2100"/>
          </a:p>
          <a:p>
            <a:pPr marL="457200" lvl="0" indent="-361950" algn="l" rtl="0">
              <a:lnSpc>
                <a:spcPct val="95000"/>
              </a:lnSpc>
              <a:spcBef>
                <a:spcPts val="1200"/>
              </a:spcBef>
              <a:spcAft>
                <a:spcPts val="0"/>
              </a:spcAft>
              <a:buSzPts val="2100"/>
              <a:buChar char="●"/>
            </a:pPr>
            <a:r>
              <a:rPr lang="en" sz="2100"/>
              <a:t>Fully managed</a:t>
            </a:r>
            <a:endParaRPr sz="2100"/>
          </a:p>
          <a:p>
            <a:pPr marL="457200" lvl="0" indent="-361950" algn="l" rtl="0">
              <a:lnSpc>
                <a:spcPct val="95000"/>
              </a:lnSpc>
              <a:spcBef>
                <a:spcPts val="0"/>
              </a:spcBef>
              <a:spcAft>
                <a:spcPts val="0"/>
              </a:spcAft>
              <a:buSzPts val="2100"/>
              <a:buChar char="●"/>
            </a:pPr>
            <a:r>
              <a:rPr lang="en" sz="2100"/>
              <a:t>Serverless</a:t>
            </a:r>
            <a:endParaRPr sz="2100"/>
          </a:p>
          <a:p>
            <a:pPr marL="457200" lvl="0" indent="-361950" algn="l" rtl="0">
              <a:lnSpc>
                <a:spcPct val="95000"/>
              </a:lnSpc>
              <a:spcBef>
                <a:spcPts val="0"/>
              </a:spcBef>
              <a:spcAft>
                <a:spcPts val="0"/>
              </a:spcAft>
              <a:buSzPts val="2100"/>
              <a:buChar char="●"/>
            </a:pPr>
            <a:r>
              <a:rPr lang="en" sz="2100"/>
              <a:t>Data integration service</a:t>
            </a:r>
            <a:endParaRPr sz="2100"/>
          </a:p>
          <a:p>
            <a:pPr marL="457200" lvl="0" indent="-361950" algn="l" rtl="0">
              <a:lnSpc>
                <a:spcPct val="95000"/>
              </a:lnSpc>
              <a:spcBef>
                <a:spcPts val="0"/>
              </a:spcBef>
              <a:spcAft>
                <a:spcPts val="0"/>
              </a:spcAft>
              <a:buSzPts val="2100"/>
              <a:buChar char="●"/>
            </a:pPr>
            <a:r>
              <a:rPr lang="en" sz="2100"/>
              <a:t>Data transformation service</a:t>
            </a:r>
            <a:endParaRPr sz="2100"/>
          </a:p>
          <a:p>
            <a:pPr marL="457200" lvl="0" indent="-361950" algn="l" rtl="0">
              <a:lnSpc>
                <a:spcPct val="95000"/>
              </a:lnSpc>
              <a:spcBef>
                <a:spcPts val="0"/>
              </a:spcBef>
              <a:spcAft>
                <a:spcPts val="0"/>
              </a:spcAft>
              <a:buSzPts val="2100"/>
              <a:buChar char="●"/>
            </a:pPr>
            <a:r>
              <a:rPr lang="en" sz="2100"/>
              <a:t>Data orchestration service</a:t>
            </a:r>
            <a:endParaRPr sz="2100"/>
          </a:p>
          <a:p>
            <a:pPr marL="0" lvl="0" indent="0" algn="l" rtl="0">
              <a:lnSpc>
                <a:spcPct val="95000"/>
              </a:lnSpc>
              <a:spcBef>
                <a:spcPts val="1200"/>
              </a:spcBef>
              <a:spcAft>
                <a:spcPts val="1200"/>
              </a:spcAft>
              <a:buNone/>
            </a:pPr>
            <a:endParaRPr sz="1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5668160E-B260-29EC-453E-6EFC80EEFFB0}"/>
            </a:ext>
          </a:extLst>
        </p:cNvPr>
        <p:cNvGrpSpPr/>
        <p:nvPr/>
      </p:nvGrpSpPr>
      <p:grpSpPr>
        <a:xfrm>
          <a:off x="0" y="0"/>
          <a:ext cx="0" cy="0"/>
          <a:chOff x="0" y="0"/>
          <a:chExt cx="0" cy="0"/>
        </a:xfrm>
      </p:grpSpPr>
      <p:sp>
        <p:nvSpPr>
          <p:cNvPr id="301" name="Google Shape;301;p17">
            <a:extLst>
              <a:ext uri="{FF2B5EF4-FFF2-40B4-BE49-F238E27FC236}">
                <a16:creationId xmlns:a16="http://schemas.microsoft.com/office/drawing/2014/main" id="{88921496-1FAD-0828-3671-798208F6007F}"/>
              </a:ext>
            </a:extLst>
          </p:cNvPr>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600" dirty="0"/>
              <a:t>Azure data factory is</a:t>
            </a:r>
            <a:endParaRPr sz="3600" dirty="0"/>
          </a:p>
        </p:txBody>
      </p:sp>
      <p:sp>
        <p:nvSpPr>
          <p:cNvPr id="302" name="Google Shape;302;p17">
            <a:extLst>
              <a:ext uri="{FF2B5EF4-FFF2-40B4-BE49-F238E27FC236}">
                <a16:creationId xmlns:a16="http://schemas.microsoft.com/office/drawing/2014/main" id="{306584FA-8D3F-EFE9-C42C-1575B1C05A57}"/>
              </a:ext>
            </a:extLst>
          </p:cNvPr>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p>
            <a:pPr marL="457200" lvl="0" indent="-368300" algn="l" rtl="0">
              <a:spcBef>
                <a:spcPts val="0"/>
              </a:spcBef>
              <a:spcAft>
                <a:spcPts val="0"/>
              </a:spcAft>
              <a:buSzPts val="2200"/>
              <a:buChar char="●"/>
            </a:pPr>
            <a:r>
              <a:rPr lang="en-US" sz="2200" dirty="0"/>
              <a:t>Azure data factory is the cloud based data integration service that enables users to create, schedule, and orchestrate data integration and data transformation workflows. It allows you to integrate data from various sources into a unified data pipeline.</a:t>
            </a:r>
            <a:endParaRPr sz="2200" dirty="0"/>
          </a:p>
        </p:txBody>
      </p:sp>
    </p:spTree>
    <p:extLst>
      <p:ext uri="{BB962C8B-B14F-4D97-AF65-F5344CB8AC3E}">
        <p14:creationId xmlns:p14="http://schemas.microsoft.com/office/powerpoint/2010/main" val="3946769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2720F-44C7-8525-F9D4-EAADEED49C80}"/>
              </a:ext>
            </a:extLst>
          </p:cNvPr>
          <p:cNvSpPr>
            <a:spLocks noGrp="1"/>
          </p:cNvSpPr>
          <p:nvPr>
            <p:ph type="title"/>
          </p:nvPr>
        </p:nvSpPr>
        <p:spPr/>
        <p:txBody>
          <a:bodyPr/>
          <a:lstStyle/>
          <a:p>
            <a:r>
              <a:rPr lang="en-US" dirty="0"/>
              <a:t>Why to learn Azure Data factory</a:t>
            </a:r>
          </a:p>
        </p:txBody>
      </p:sp>
      <p:sp>
        <p:nvSpPr>
          <p:cNvPr id="3" name="Text Placeholder 2">
            <a:extLst>
              <a:ext uri="{FF2B5EF4-FFF2-40B4-BE49-F238E27FC236}">
                <a16:creationId xmlns:a16="http://schemas.microsoft.com/office/drawing/2014/main" id="{3B4B9761-323F-7AD0-F1E6-524E064D44BC}"/>
              </a:ext>
            </a:extLst>
          </p:cNvPr>
          <p:cNvSpPr>
            <a:spLocks noGrp="1"/>
          </p:cNvSpPr>
          <p:nvPr>
            <p:ph type="body" idx="1"/>
          </p:nvPr>
        </p:nvSpPr>
        <p:spPr/>
        <p:txBody>
          <a:bodyPr>
            <a:normAutofit lnSpcReduction="10000"/>
          </a:bodyPr>
          <a:lstStyle/>
          <a:p>
            <a:pPr marL="488950" indent="-342900">
              <a:buFont typeface="+mj-lt"/>
              <a:buAutoNum type="arabicPeriod"/>
            </a:pPr>
            <a:r>
              <a:rPr lang="en-US" dirty="0"/>
              <a:t>Cloud based : As a cloud based service, Azure data factory allows you to leverage the scalability and flexibility of the cloud to handle large volumes of the data. It also provides a cost effective solution, you only pay for the resources you consume.</a:t>
            </a:r>
          </a:p>
          <a:p>
            <a:pPr marL="488950" indent="-342900">
              <a:buFont typeface="+mj-lt"/>
              <a:buAutoNum type="arabicPeriod"/>
            </a:pPr>
            <a:r>
              <a:rPr lang="en-US" dirty="0"/>
              <a:t>Integration with azure services: Azure data factory integrates with other azure services such as azure synapse Analytics, Azure Data bricks and azure stream analytics.</a:t>
            </a:r>
          </a:p>
          <a:p>
            <a:pPr marL="488950" indent="-342900">
              <a:buFont typeface="+mj-lt"/>
              <a:buAutoNum type="arabicPeriod"/>
            </a:pPr>
            <a:r>
              <a:rPr lang="en-US" dirty="0"/>
              <a:t>Enhanced job Prospects:  As the demand for cloud based data integration services continues to grow, there is high demand for professional skills in Azure Data factory</a:t>
            </a:r>
          </a:p>
          <a:p>
            <a:pPr marL="488950" indent="-342900">
              <a:buFont typeface="+mj-lt"/>
              <a:buAutoNum type="arabicPeriod"/>
            </a:pPr>
            <a:r>
              <a:rPr lang="en-US" dirty="0"/>
              <a:t>Ease of use: User friendly service that does not require users to have extensive programming skills, it provides a graphical interface that allows user to drag and drop data sources, create pipelines and monitor workflows.</a:t>
            </a:r>
          </a:p>
        </p:txBody>
      </p:sp>
    </p:spTree>
    <p:extLst>
      <p:ext uri="{BB962C8B-B14F-4D97-AF65-F5344CB8AC3E}">
        <p14:creationId xmlns:p14="http://schemas.microsoft.com/office/powerpoint/2010/main" val="11943644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1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500"/>
              <a:t>Data sources</a:t>
            </a:r>
            <a:endParaRPr sz="3500"/>
          </a:p>
        </p:txBody>
      </p:sp>
      <p:pic>
        <p:nvPicPr>
          <p:cNvPr id="290" name="Google Shape;290;p15"/>
          <p:cNvPicPr preferRelativeResize="0"/>
          <p:nvPr/>
        </p:nvPicPr>
        <p:blipFill>
          <a:blip r:embed="rId3">
            <a:alphaModFix/>
          </a:blip>
          <a:stretch>
            <a:fillRect/>
          </a:stretch>
        </p:blipFill>
        <p:spPr>
          <a:xfrm>
            <a:off x="1303800" y="1597877"/>
            <a:ext cx="6524855" cy="32538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1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600"/>
              <a:t>Data problems</a:t>
            </a:r>
            <a:endParaRPr sz="3600"/>
          </a:p>
        </p:txBody>
      </p:sp>
      <p:pic>
        <p:nvPicPr>
          <p:cNvPr id="296" name="Google Shape;296;p16"/>
          <p:cNvPicPr preferRelativeResize="0"/>
          <p:nvPr/>
        </p:nvPicPr>
        <p:blipFill>
          <a:blip r:embed="rId3">
            <a:alphaModFix/>
          </a:blip>
          <a:stretch>
            <a:fillRect/>
          </a:stretch>
        </p:blipFill>
        <p:spPr>
          <a:xfrm>
            <a:off x="757250" y="1809050"/>
            <a:ext cx="8134676" cy="3092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600"/>
              <a:t>Azure data factory is not:</a:t>
            </a:r>
            <a:endParaRPr sz="3600"/>
          </a:p>
        </p:txBody>
      </p:sp>
      <p:sp>
        <p:nvSpPr>
          <p:cNvPr id="302" name="Google Shape;302;p17"/>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p>
            <a:pPr marL="457200" lvl="0" indent="-368300" algn="l" rtl="0">
              <a:spcBef>
                <a:spcPts val="0"/>
              </a:spcBef>
              <a:spcAft>
                <a:spcPts val="0"/>
              </a:spcAft>
              <a:buSzPts val="2200"/>
              <a:buChar char="●"/>
            </a:pPr>
            <a:r>
              <a:rPr lang="en" sz="2200"/>
              <a:t>Data Migration tool</a:t>
            </a:r>
            <a:endParaRPr sz="2200"/>
          </a:p>
          <a:p>
            <a:pPr marL="457200" lvl="0" indent="-368300" algn="l" rtl="0">
              <a:spcBef>
                <a:spcPts val="0"/>
              </a:spcBef>
              <a:spcAft>
                <a:spcPts val="0"/>
              </a:spcAft>
              <a:buSzPts val="2200"/>
              <a:buChar char="●"/>
            </a:pPr>
            <a:r>
              <a:rPr lang="en" sz="2200"/>
              <a:t>Data Streaming service</a:t>
            </a:r>
            <a:endParaRPr sz="2200"/>
          </a:p>
          <a:p>
            <a:pPr marL="457200" lvl="0" indent="-368300" algn="l" rtl="0">
              <a:spcBef>
                <a:spcPts val="0"/>
              </a:spcBef>
              <a:spcAft>
                <a:spcPts val="0"/>
              </a:spcAft>
              <a:buSzPts val="2200"/>
              <a:buChar char="●"/>
            </a:pPr>
            <a:r>
              <a:rPr lang="en" sz="2200"/>
              <a:t>Suitable for complex data transformation</a:t>
            </a:r>
            <a:endParaRPr sz="2200"/>
          </a:p>
          <a:p>
            <a:pPr marL="457200" lvl="0" indent="-368300" algn="l" rtl="0">
              <a:spcBef>
                <a:spcPts val="0"/>
              </a:spcBef>
              <a:spcAft>
                <a:spcPts val="0"/>
              </a:spcAft>
              <a:buSzPts val="2200"/>
              <a:buChar char="●"/>
            </a:pPr>
            <a:r>
              <a:rPr lang="en" sz="2200"/>
              <a:t>Data storage service</a:t>
            </a:r>
            <a:endParaRPr sz="2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1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Data processing architecture</a:t>
            </a:r>
            <a:endParaRPr/>
          </a:p>
        </p:txBody>
      </p:sp>
      <p:pic>
        <p:nvPicPr>
          <p:cNvPr id="308" name="Google Shape;308;p18"/>
          <p:cNvPicPr preferRelativeResize="0"/>
          <p:nvPr/>
        </p:nvPicPr>
        <p:blipFill>
          <a:blip r:embed="rId3">
            <a:alphaModFix/>
          </a:blip>
          <a:stretch>
            <a:fillRect/>
          </a:stretch>
        </p:blipFill>
        <p:spPr>
          <a:xfrm>
            <a:off x="1303800" y="1420675"/>
            <a:ext cx="7030499" cy="351091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19"/>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500"/>
              <a:t>Architecture  </a:t>
            </a:r>
            <a:endParaRPr sz="3500"/>
          </a:p>
        </p:txBody>
      </p:sp>
      <p:sp>
        <p:nvSpPr>
          <p:cNvPr id="314" name="Google Shape;314;p19"/>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p>
            <a:pPr marL="457200" lvl="0" indent="-361950" algn="l" rtl="0">
              <a:spcBef>
                <a:spcPts val="0"/>
              </a:spcBef>
              <a:spcAft>
                <a:spcPts val="0"/>
              </a:spcAft>
              <a:buSzPts val="2100"/>
              <a:buChar char="●"/>
            </a:pPr>
            <a:r>
              <a:rPr lang="en" sz="2100"/>
              <a:t>Ingest</a:t>
            </a:r>
            <a:endParaRPr sz="2100"/>
          </a:p>
          <a:p>
            <a:pPr marL="457200" lvl="0" indent="-361950" algn="l" rtl="0">
              <a:spcBef>
                <a:spcPts val="0"/>
              </a:spcBef>
              <a:spcAft>
                <a:spcPts val="0"/>
              </a:spcAft>
              <a:buSzPts val="2100"/>
              <a:buChar char="●"/>
            </a:pPr>
            <a:r>
              <a:rPr lang="en" sz="2100"/>
              <a:t>Transform/Analyze</a:t>
            </a:r>
            <a:endParaRPr sz="2100"/>
          </a:p>
          <a:p>
            <a:pPr marL="457200" lvl="0" indent="-361950" algn="l" rtl="0">
              <a:spcBef>
                <a:spcPts val="0"/>
              </a:spcBef>
              <a:spcAft>
                <a:spcPts val="0"/>
              </a:spcAft>
              <a:buSzPts val="2100"/>
              <a:buChar char="●"/>
            </a:pPr>
            <a:r>
              <a:rPr lang="en" sz="2100"/>
              <a:t>Publish</a:t>
            </a:r>
            <a:endParaRPr sz="2100"/>
          </a:p>
          <a:p>
            <a:pPr marL="457200" lvl="0" indent="0" algn="l" rtl="0">
              <a:spcBef>
                <a:spcPts val="1200"/>
              </a:spcBef>
              <a:spcAft>
                <a:spcPts val="1200"/>
              </a:spcAft>
              <a:buNone/>
            </a:pPr>
            <a:endParaRPr sz="2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2"/>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data available in</a:t>
            </a:r>
            <a:endParaRPr dirty="0"/>
          </a:p>
        </p:txBody>
      </p:sp>
      <p:sp>
        <p:nvSpPr>
          <p:cNvPr id="339" name="Google Shape;339;p22"/>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grpSp>
        <p:nvGrpSpPr>
          <p:cNvPr id="340" name="Google Shape;340;p22"/>
          <p:cNvGrpSpPr/>
          <p:nvPr/>
        </p:nvGrpSpPr>
        <p:grpSpPr>
          <a:xfrm>
            <a:off x="2948199" y="2013927"/>
            <a:ext cx="2444946" cy="2439001"/>
            <a:chOff x="3071457" y="2013875"/>
            <a:chExt cx="1944600" cy="1569600"/>
          </a:xfrm>
        </p:grpSpPr>
        <p:sp>
          <p:nvSpPr>
            <p:cNvPr id="341" name="Google Shape;341;p22"/>
            <p:cNvSpPr/>
            <p:nvPr/>
          </p:nvSpPr>
          <p:spPr>
            <a:xfrm rot="10800000" flipH="1">
              <a:off x="3071457" y="2013875"/>
              <a:ext cx="1944600" cy="1569600"/>
            </a:xfrm>
            <a:prstGeom prst="round2DiagRect">
              <a:avLst>
                <a:gd name="adj1" fmla="val 0"/>
                <a:gd name="adj2" fmla="val 17764"/>
              </a:avLst>
            </a:prstGeom>
            <a:solidFill>
              <a:srgbClr val="0D5C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2"/>
            <p:cNvSpPr txBox="1"/>
            <p:nvPr/>
          </p:nvSpPr>
          <p:spPr>
            <a:xfrm>
              <a:off x="3316102" y="2256385"/>
              <a:ext cx="1451700" cy="45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dirty="0">
                  <a:solidFill>
                    <a:srgbClr val="FFFFFF"/>
                  </a:solidFill>
                  <a:latin typeface="Roboto"/>
                  <a:ea typeface="Roboto"/>
                  <a:cs typeface="Roboto"/>
                  <a:sym typeface="Roboto"/>
                </a:rPr>
                <a:t>Semi-Structured</a:t>
              </a:r>
              <a:endParaRPr sz="1700" b="1" dirty="0">
                <a:solidFill>
                  <a:srgbClr val="FFFFFF"/>
                </a:solidFill>
                <a:latin typeface="Roboto"/>
                <a:ea typeface="Roboto"/>
                <a:cs typeface="Roboto"/>
                <a:sym typeface="Roboto"/>
              </a:endParaRPr>
            </a:p>
          </p:txBody>
        </p:sp>
        <p:sp>
          <p:nvSpPr>
            <p:cNvPr id="343" name="Google Shape;343;p22"/>
            <p:cNvSpPr txBox="1"/>
            <p:nvPr/>
          </p:nvSpPr>
          <p:spPr>
            <a:xfrm>
              <a:off x="3339592" y="2632379"/>
              <a:ext cx="1428209" cy="59637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600"/>
                </a:spcAft>
                <a:buNone/>
              </a:pPr>
              <a:r>
                <a:rPr lang="en-US" sz="1100" dirty="0">
                  <a:solidFill>
                    <a:srgbClr val="FFFFFF"/>
                  </a:solidFill>
                  <a:latin typeface="Roboto"/>
                  <a:ea typeface="Roboto"/>
                  <a:cs typeface="Roboto"/>
                  <a:sym typeface="Roboto"/>
                </a:rPr>
                <a:t>JSON</a:t>
              </a:r>
            </a:p>
            <a:p>
              <a:pPr marL="0" lvl="0" indent="0" algn="l" rtl="0">
                <a:spcBef>
                  <a:spcPts val="0"/>
                </a:spcBef>
                <a:spcAft>
                  <a:spcPts val="1600"/>
                </a:spcAft>
                <a:buNone/>
              </a:pPr>
              <a:r>
                <a:rPr lang="en-US" sz="1100" dirty="0">
                  <a:solidFill>
                    <a:srgbClr val="FFFFFF"/>
                  </a:solidFill>
                  <a:latin typeface="Roboto"/>
                  <a:ea typeface="Roboto"/>
                  <a:cs typeface="Roboto"/>
                  <a:sym typeface="Roboto"/>
                </a:rPr>
                <a:t>XML</a:t>
              </a:r>
            </a:p>
            <a:p>
              <a:pPr marL="0" lvl="0" indent="0" algn="l" rtl="0">
                <a:spcBef>
                  <a:spcPts val="0"/>
                </a:spcBef>
                <a:spcAft>
                  <a:spcPts val="1600"/>
                </a:spcAft>
                <a:buNone/>
              </a:pPr>
              <a:r>
                <a:rPr lang="en-US" sz="1100" dirty="0">
                  <a:solidFill>
                    <a:srgbClr val="FFFFFF"/>
                  </a:solidFill>
                  <a:latin typeface="Roboto"/>
                  <a:ea typeface="Roboto"/>
                  <a:cs typeface="Roboto"/>
                  <a:sym typeface="Roboto"/>
                </a:rPr>
                <a:t>LOG files</a:t>
              </a:r>
            </a:p>
            <a:p>
              <a:pPr marL="0" lvl="0" indent="0" algn="l" rtl="0">
                <a:spcBef>
                  <a:spcPts val="0"/>
                </a:spcBef>
                <a:spcAft>
                  <a:spcPts val="1600"/>
                </a:spcAft>
                <a:buNone/>
              </a:pPr>
              <a:r>
                <a:rPr lang="en-US" sz="1100" dirty="0">
                  <a:solidFill>
                    <a:srgbClr val="FFFFFF"/>
                  </a:solidFill>
                  <a:latin typeface="Roboto"/>
                  <a:ea typeface="Roboto"/>
                  <a:cs typeface="Roboto"/>
                  <a:sym typeface="Roboto"/>
                </a:rPr>
                <a:t>NOSQL database</a:t>
              </a:r>
              <a:endParaRPr sz="1100" dirty="0">
                <a:solidFill>
                  <a:srgbClr val="FFFFFF"/>
                </a:solidFill>
                <a:latin typeface="Roboto"/>
                <a:ea typeface="Roboto"/>
                <a:cs typeface="Roboto"/>
                <a:sym typeface="Roboto"/>
              </a:endParaRPr>
            </a:p>
          </p:txBody>
        </p:sp>
      </p:grpSp>
      <p:grpSp>
        <p:nvGrpSpPr>
          <p:cNvPr id="344" name="Google Shape;344;p22"/>
          <p:cNvGrpSpPr/>
          <p:nvPr/>
        </p:nvGrpSpPr>
        <p:grpSpPr>
          <a:xfrm>
            <a:off x="558398" y="2046752"/>
            <a:ext cx="2444946" cy="2439001"/>
            <a:chOff x="1126863" y="2013875"/>
            <a:chExt cx="1944600" cy="1569600"/>
          </a:xfrm>
        </p:grpSpPr>
        <p:sp>
          <p:nvSpPr>
            <p:cNvPr id="345" name="Google Shape;345;p22"/>
            <p:cNvSpPr/>
            <p:nvPr/>
          </p:nvSpPr>
          <p:spPr>
            <a:xfrm>
              <a:off x="1126863" y="2013875"/>
              <a:ext cx="1944600" cy="1569600"/>
            </a:xfrm>
            <a:prstGeom prst="round2DiagRect">
              <a:avLst>
                <a:gd name="adj1" fmla="val 0"/>
                <a:gd name="adj2" fmla="val 17764"/>
              </a:avLst>
            </a:prstGeom>
            <a:solidFill>
              <a:srgbClr val="307A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2"/>
            <p:cNvSpPr txBox="1"/>
            <p:nvPr/>
          </p:nvSpPr>
          <p:spPr>
            <a:xfrm>
              <a:off x="1351627" y="2256385"/>
              <a:ext cx="1451700" cy="45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rgbClr val="FFFFFF"/>
                  </a:solidFill>
                  <a:latin typeface="Roboto"/>
                  <a:ea typeface="Roboto"/>
                  <a:cs typeface="Roboto"/>
                  <a:sym typeface="Roboto"/>
                </a:rPr>
                <a:t>Structured</a:t>
              </a:r>
              <a:endParaRPr sz="1700">
                <a:solidFill>
                  <a:srgbClr val="FFFFFF"/>
                </a:solidFill>
                <a:latin typeface="Roboto"/>
                <a:ea typeface="Roboto"/>
                <a:cs typeface="Roboto"/>
                <a:sym typeface="Roboto"/>
              </a:endParaRPr>
            </a:p>
          </p:txBody>
        </p:sp>
        <p:sp>
          <p:nvSpPr>
            <p:cNvPr id="347" name="Google Shape;347;p22"/>
            <p:cNvSpPr txBox="1"/>
            <p:nvPr/>
          </p:nvSpPr>
          <p:spPr>
            <a:xfrm>
              <a:off x="1351625" y="2716352"/>
              <a:ext cx="1451700" cy="512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US" sz="1100" dirty="0">
                  <a:solidFill>
                    <a:srgbClr val="FFFFFF"/>
                  </a:solidFill>
                  <a:latin typeface="Roboto"/>
                  <a:ea typeface="Roboto"/>
                  <a:cs typeface="Roboto"/>
                  <a:sym typeface="Roboto"/>
                </a:rPr>
                <a:t>Relational database</a:t>
              </a:r>
              <a:endParaRPr sz="1100" dirty="0">
                <a:solidFill>
                  <a:srgbClr val="FFFFFF"/>
                </a:solidFill>
                <a:latin typeface="Roboto"/>
                <a:ea typeface="Roboto"/>
                <a:cs typeface="Roboto"/>
                <a:sym typeface="Roboto"/>
              </a:endParaRPr>
            </a:p>
          </p:txBody>
        </p:sp>
      </p:grpSp>
      <p:grpSp>
        <p:nvGrpSpPr>
          <p:cNvPr id="348" name="Google Shape;348;p22"/>
          <p:cNvGrpSpPr/>
          <p:nvPr/>
        </p:nvGrpSpPr>
        <p:grpSpPr>
          <a:xfrm>
            <a:off x="5393360" y="2013852"/>
            <a:ext cx="2940876" cy="2439001"/>
            <a:chOff x="5015938" y="2013875"/>
            <a:chExt cx="3001200" cy="1569600"/>
          </a:xfrm>
        </p:grpSpPr>
        <p:sp>
          <p:nvSpPr>
            <p:cNvPr id="349" name="Google Shape;349;p22"/>
            <p:cNvSpPr/>
            <p:nvPr/>
          </p:nvSpPr>
          <p:spPr>
            <a:xfrm>
              <a:off x="5015938" y="2013875"/>
              <a:ext cx="3001200" cy="1569600"/>
            </a:xfrm>
            <a:prstGeom prst="round2DiagRect">
              <a:avLst>
                <a:gd name="adj1" fmla="val 0"/>
                <a:gd name="adj2" fmla="val 17764"/>
              </a:avLst>
            </a:prstGeom>
            <a:solidFill>
              <a:srgbClr val="0942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50" name="Google Shape;350;p22"/>
            <p:cNvSpPr txBox="1"/>
            <p:nvPr/>
          </p:nvSpPr>
          <p:spPr>
            <a:xfrm>
              <a:off x="5360226" y="2256387"/>
              <a:ext cx="2417100" cy="45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dirty="0">
                  <a:solidFill>
                    <a:srgbClr val="FFFFFF"/>
                  </a:solidFill>
                  <a:latin typeface="Roboto"/>
                  <a:ea typeface="Roboto"/>
                  <a:cs typeface="Roboto"/>
                  <a:sym typeface="Roboto"/>
                </a:rPr>
                <a:t>Unstructured</a:t>
              </a:r>
              <a:endParaRPr sz="1700" dirty="0">
                <a:solidFill>
                  <a:srgbClr val="FFFFFF"/>
                </a:solidFill>
                <a:latin typeface="Roboto"/>
                <a:ea typeface="Roboto"/>
                <a:cs typeface="Roboto"/>
                <a:sym typeface="Roboto"/>
              </a:endParaRPr>
            </a:p>
          </p:txBody>
        </p:sp>
        <p:sp>
          <p:nvSpPr>
            <p:cNvPr id="351" name="Google Shape;351;p22"/>
            <p:cNvSpPr txBox="1"/>
            <p:nvPr/>
          </p:nvSpPr>
          <p:spPr>
            <a:xfrm>
              <a:off x="5360225" y="2716353"/>
              <a:ext cx="2417100" cy="512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US" sz="1100" dirty="0">
                  <a:solidFill>
                    <a:srgbClr val="FFFFFF"/>
                  </a:solidFill>
                  <a:latin typeface="Roboto"/>
                  <a:ea typeface="Roboto"/>
                  <a:cs typeface="Roboto"/>
                  <a:sym typeface="Roboto"/>
                </a:rPr>
                <a:t>Media files like photos, videos, audios</a:t>
              </a:r>
            </a:p>
            <a:p>
              <a:pPr marL="0" lvl="0" indent="0" algn="l" rtl="0">
                <a:lnSpc>
                  <a:spcPct val="115000"/>
                </a:lnSpc>
                <a:spcBef>
                  <a:spcPts val="0"/>
                </a:spcBef>
                <a:spcAft>
                  <a:spcPts val="1600"/>
                </a:spcAft>
                <a:buNone/>
              </a:pPr>
              <a:r>
                <a:rPr lang="en-US" sz="1100" dirty="0">
                  <a:solidFill>
                    <a:srgbClr val="FFFFFF"/>
                  </a:solidFill>
                  <a:latin typeface="Roboto"/>
                  <a:ea typeface="Roboto"/>
                  <a:cs typeface="Roboto"/>
                  <a:sym typeface="Roboto"/>
                </a:rPr>
                <a:t>Text files</a:t>
              </a:r>
            </a:p>
            <a:p>
              <a:pPr marL="0" lvl="0" indent="0" algn="l" rtl="0">
                <a:lnSpc>
                  <a:spcPct val="115000"/>
                </a:lnSpc>
                <a:spcBef>
                  <a:spcPts val="0"/>
                </a:spcBef>
                <a:spcAft>
                  <a:spcPts val="1600"/>
                </a:spcAft>
                <a:buNone/>
              </a:pPr>
              <a:r>
                <a:rPr lang="en-US" sz="1100" dirty="0">
                  <a:solidFill>
                    <a:srgbClr val="FFFFFF"/>
                  </a:solidFill>
                  <a:latin typeface="Roboto"/>
                  <a:ea typeface="Roboto"/>
                  <a:cs typeface="Roboto"/>
                  <a:sym typeface="Roboto"/>
                </a:rPr>
                <a:t>Log files</a:t>
              </a:r>
              <a:endParaRPr sz="1100" dirty="0">
                <a:solidFill>
                  <a:srgbClr val="FFFFFF"/>
                </a:solidFill>
                <a:latin typeface="Roboto"/>
                <a:ea typeface="Roboto"/>
                <a:cs typeface="Roboto"/>
                <a:sym typeface="Roboto"/>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7586B-46C3-1B54-CDEA-CF3EB2E42169}"/>
              </a:ext>
            </a:extLst>
          </p:cNvPr>
          <p:cNvSpPr>
            <a:spLocks noGrp="1"/>
          </p:cNvSpPr>
          <p:nvPr>
            <p:ph type="title"/>
          </p:nvPr>
        </p:nvSpPr>
        <p:spPr/>
        <p:txBody>
          <a:bodyPr/>
          <a:lstStyle/>
          <a:p>
            <a:r>
              <a:rPr lang="en-US" dirty="0"/>
              <a:t>ADF file format</a:t>
            </a:r>
          </a:p>
        </p:txBody>
      </p:sp>
      <p:sp>
        <p:nvSpPr>
          <p:cNvPr id="3" name="Text Placeholder 2">
            <a:extLst>
              <a:ext uri="{FF2B5EF4-FFF2-40B4-BE49-F238E27FC236}">
                <a16:creationId xmlns:a16="http://schemas.microsoft.com/office/drawing/2014/main" id="{04D705D6-8D58-42A8-9309-79C7E275B17B}"/>
              </a:ext>
            </a:extLst>
          </p:cNvPr>
          <p:cNvSpPr>
            <a:spLocks noGrp="1"/>
          </p:cNvSpPr>
          <p:nvPr>
            <p:ph type="body" idx="1"/>
          </p:nvPr>
        </p:nvSpPr>
        <p:spPr/>
        <p:txBody>
          <a:bodyPr/>
          <a:lstStyle/>
          <a:p>
            <a:r>
              <a:rPr lang="en-US" dirty="0"/>
              <a:t>Parquet file format</a:t>
            </a:r>
          </a:p>
          <a:p>
            <a:pPr marL="146050" indent="0">
              <a:buNone/>
            </a:pPr>
            <a:r>
              <a:rPr lang="en-US" dirty="0"/>
              <a:t>Optimized for large scale data processing and analysis</a:t>
            </a:r>
          </a:p>
          <a:p>
            <a:pPr marL="146050" indent="0">
              <a:buNone/>
            </a:pPr>
            <a:r>
              <a:rPr lang="en-US" dirty="0"/>
              <a:t>Columnar based storage</a:t>
            </a:r>
          </a:p>
          <a:p>
            <a:pPr marL="146050" indent="0">
              <a:buNone/>
            </a:pPr>
            <a:r>
              <a:rPr lang="en-US" dirty="0"/>
              <a:t>Supports wide range of data types</a:t>
            </a:r>
          </a:p>
          <a:p>
            <a:pPr marL="146050" indent="0">
              <a:buNone/>
            </a:pPr>
            <a:r>
              <a:rPr lang="en-US" dirty="0"/>
              <a:t>Advance compression techniques</a:t>
            </a:r>
          </a:p>
          <a:p>
            <a:pPr marL="146050" indent="0">
              <a:buNone/>
            </a:pPr>
            <a:r>
              <a:rPr lang="en-US" dirty="0"/>
              <a:t>Preserve the data types </a:t>
            </a:r>
            <a:r>
              <a:rPr lang="en-US"/>
              <a:t>via metadat</a:t>
            </a:r>
            <a:r>
              <a:rPr lang="en-US" dirty="0"/>
              <a:t>a</a:t>
            </a:r>
            <a:endParaRPr lang="en-US"/>
          </a:p>
        </p:txBody>
      </p:sp>
    </p:spTree>
    <p:extLst>
      <p:ext uri="{BB962C8B-B14F-4D97-AF65-F5344CB8AC3E}">
        <p14:creationId xmlns:p14="http://schemas.microsoft.com/office/powerpoint/2010/main" val="9786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20"/>
          <p:cNvSpPr txBox="1">
            <a:spLocks noGrp="1"/>
          </p:cNvSpPr>
          <p:nvPr>
            <p:ph type="title"/>
          </p:nvPr>
        </p:nvSpPr>
        <p:spPr>
          <a:xfrm>
            <a:off x="1375925" y="322050"/>
            <a:ext cx="5857800" cy="1872900"/>
          </a:xfrm>
          <a:prstGeom prst="rect">
            <a:avLst/>
          </a:prstGeom>
        </p:spPr>
        <p:txBody>
          <a:bodyPr spcFirstLastPara="1" wrap="square" lIns="91425" tIns="91425" rIns="91425" bIns="91425" anchor="ctr" anchorCtr="0">
            <a:normAutofit/>
          </a:bodyPr>
          <a:lstStyle/>
          <a:p>
            <a:pPr marL="457200" lvl="0" indent="-444500" algn="l" rtl="0">
              <a:spcBef>
                <a:spcPts val="0"/>
              </a:spcBef>
              <a:spcAft>
                <a:spcPts val="0"/>
              </a:spcAft>
              <a:buSzPts val="3400"/>
              <a:buChar char="●"/>
            </a:pPr>
            <a:r>
              <a:rPr lang="en" sz="3400"/>
              <a:t>Architecture </a:t>
            </a:r>
            <a:endParaRPr sz="3400"/>
          </a:p>
        </p:txBody>
      </p:sp>
      <p:sp>
        <p:nvSpPr>
          <p:cNvPr id="320" name="Google Shape;320;p20"/>
          <p:cNvSpPr txBox="1"/>
          <p:nvPr/>
        </p:nvSpPr>
        <p:spPr>
          <a:xfrm>
            <a:off x="1517225" y="1989300"/>
            <a:ext cx="5906700" cy="194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a:solidFill>
                  <a:schemeClr val="lt1"/>
                </a:solidFill>
                <a:latin typeface="Nunito"/>
                <a:ea typeface="Nunito"/>
                <a:cs typeface="Nunito"/>
                <a:sym typeface="Nunito"/>
              </a:rPr>
              <a:t>Transformation :</a:t>
            </a:r>
            <a:endParaRPr sz="2100">
              <a:solidFill>
                <a:schemeClr val="lt1"/>
              </a:solidFill>
              <a:latin typeface="Nunito"/>
              <a:ea typeface="Nunito"/>
              <a:cs typeface="Nunito"/>
              <a:sym typeface="Nunito"/>
            </a:endParaRPr>
          </a:p>
        </p:txBody>
      </p:sp>
      <p:pic>
        <p:nvPicPr>
          <p:cNvPr id="321" name="Google Shape;321;p20"/>
          <p:cNvPicPr preferRelativeResize="0"/>
          <p:nvPr/>
        </p:nvPicPr>
        <p:blipFill>
          <a:blip r:embed="rId3">
            <a:alphaModFix/>
          </a:blip>
          <a:stretch>
            <a:fillRect/>
          </a:stretch>
        </p:blipFill>
        <p:spPr>
          <a:xfrm>
            <a:off x="2078863" y="2976688"/>
            <a:ext cx="5667375" cy="1914525"/>
          </a:xfrm>
          <a:prstGeom prst="rect">
            <a:avLst/>
          </a:prstGeom>
          <a:noFill/>
          <a:ln>
            <a:noFill/>
          </a:ln>
        </p:spPr>
      </p:pic>
      <p:pic>
        <p:nvPicPr>
          <p:cNvPr id="322" name="Google Shape;322;p20"/>
          <p:cNvPicPr preferRelativeResize="0"/>
          <p:nvPr/>
        </p:nvPicPr>
        <p:blipFill>
          <a:blip r:embed="rId4">
            <a:alphaModFix/>
          </a:blip>
          <a:stretch>
            <a:fillRect/>
          </a:stretch>
        </p:blipFill>
        <p:spPr>
          <a:xfrm>
            <a:off x="4199563" y="3387475"/>
            <a:ext cx="1092963" cy="1092963"/>
          </a:xfrm>
          <a:prstGeom prst="rect">
            <a:avLst/>
          </a:prstGeom>
          <a:noFill/>
          <a:ln>
            <a:noFill/>
          </a:ln>
        </p:spPr>
      </p:pic>
      <p:pic>
        <p:nvPicPr>
          <p:cNvPr id="323" name="Google Shape;323;p20"/>
          <p:cNvPicPr preferRelativeResize="0"/>
          <p:nvPr/>
        </p:nvPicPr>
        <p:blipFill>
          <a:blip r:embed="rId5">
            <a:alphaModFix/>
          </a:blip>
          <a:stretch>
            <a:fillRect/>
          </a:stretch>
        </p:blipFill>
        <p:spPr>
          <a:xfrm>
            <a:off x="6043238" y="3387475"/>
            <a:ext cx="1047750" cy="1133475"/>
          </a:xfrm>
          <a:prstGeom prst="rect">
            <a:avLst/>
          </a:prstGeom>
          <a:noFill/>
          <a:ln>
            <a:noFill/>
          </a:ln>
        </p:spPr>
      </p:pic>
      <p:pic>
        <p:nvPicPr>
          <p:cNvPr id="324" name="Google Shape;324;p20"/>
          <p:cNvPicPr preferRelativeResize="0"/>
          <p:nvPr/>
        </p:nvPicPr>
        <p:blipFill>
          <a:blip r:embed="rId6">
            <a:alphaModFix/>
          </a:blip>
          <a:stretch>
            <a:fillRect/>
          </a:stretch>
        </p:blipFill>
        <p:spPr>
          <a:xfrm>
            <a:off x="2578988" y="3438338"/>
            <a:ext cx="1092963" cy="103175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21"/>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600"/>
              <a:t>Architecture </a:t>
            </a:r>
            <a:endParaRPr sz="3600"/>
          </a:p>
        </p:txBody>
      </p:sp>
      <p:sp>
        <p:nvSpPr>
          <p:cNvPr id="330" name="Google Shape;330;p21"/>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en" sz="2100"/>
              <a:t>Population data (Azure blob Storage)</a:t>
            </a:r>
            <a:endParaRPr sz="2100"/>
          </a:p>
          <a:p>
            <a:pPr marL="0" lvl="0" indent="0" algn="l" rtl="0">
              <a:spcBef>
                <a:spcPts val="1200"/>
              </a:spcBef>
              <a:spcAft>
                <a:spcPts val="0"/>
              </a:spcAft>
              <a:buNone/>
            </a:pPr>
            <a:endParaRPr sz="2100"/>
          </a:p>
          <a:p>
            <a:pPr marL="0" lvl="0" indent="0" algn="l" rtl="0">
              <a:spcBef>
                <a:spcPts val="1200"/>
              </a:spcBef>
              <a:spcAft>
                <a:spcPts val="0"/>
              </a:spcAft>
              <a:buNone/>
            </a:pPr>
            <a:r>
              <a:rPr lang="en" sz="2100"/>
              <a:t>Azure data Lake storage gen2</a:t>
            </a:r>
            <a:endParaRPr sz="2100"/>
          </a:p>
          <a:p>
            <a:pPr marL="0" lvl="0" indent="0" algn="l" rtl="0">
              <a:spcBef>
                <a:spcPts val="1200"/>
              </a:spcBef>
              <a:spcAft>
                <a:spcPts val="0"/>
              </a:spcAft>
              <a:buNone/>
            </a:pPr>
            <a:endParaRPr sz="2100"/>
          </a:p>
          <a:p>
            <a:pPr marL="0" lvl="0" indent="0" algn="l" rtl="0">
              <a:spcBef>
                <a:spcPts val="1200"/>
              </a:spcBef>
              <a:spcAft>
                <a:spcPts val="1200"/>
              </a:spcAft>
              <a:buNone/>
            </a:pPr>
            <a:r>
              <a:rPr lang="en" sz="2100"/>
              <a:t>Azure SQL Database</a:t>
            </a:r>
            <a:endParaRPr sz="2100"/>
          </a:p>
        </p:txBody>
      </p:sp>
      <p:pic>
        <p:nvPicPr>
          <p:cNvPr id="331" name="Google Shape;331;p21"/>
          <p:cNvPicPr preferRelativeResize="0"/>
          <p:nvPr/>
        </p:nvPicPr>
        <p:blipFill>
          <a:blip r:embed="rId3">
            <a:alphaModFix/>
          </a:blip>
          <a:stretch>
            <a:fillRect/>
          </a:stretch>
        </p:blipFill>
        <p:spPr>
          <a:xfrm>
            <a:off x="281575" y="1843400"/>
            <a:ext cx="914400" cy="914400"/>
          </a:xfrm>
          <a:prstGeom prst="rect">
            <a:avLst/>
          </a:prstGeom>
          <a:noFill/>
          <a:ln>
            <a:noFill/>
          </a:ln>
        </p:spPr>
      </p:pic>
      <p:pic>
        <p:nvPicPr>
          <p:cNvPr id="332" name="Google Shape;332;p21"/>
          <p:cNvPicPr preferRelativeResize="0"/>
          <p:nvPr/>
        </p:nvPicPr>
        <p:blipFill>
          <a:blip r:embed="rId4">
            <a:alphaModFix/>
          </a:blip>
          <a:stretch>
            <a:fillRect/>
          </a:stretch>
        </p:blipFill>
        <p:spPr>
          <a:xfrm>
            <a:off x="314713" y="2834000"/>
            <a:ext cx="848125" cy="800375"/>
          </a:xfrm>
          <a:prstGeom prst="rect">
            <a:avLst/>
          </a:prstGeom>
          <a:noFill/>
          <a:ln>
            <a:noFill/>
          </a:ln>
        </p:spPr>
      </p:pic>
      <p:pic>
        <p:nvPicPr>
          <p:cNvPr id="333" name="Google Shape;333;p21"/>
          <p:cNvPicPr preferRelativeResize="0"/>
          <p:nvPr/>
        </p:nvPicPr>
        <p:blipFill>
          <a:blip r:embed="rId5">
            <a:alphaModFix/>
          </a:blip>
          <a:stretch>
            <a:fillRect/>
          </a:stretch>
        </p:blipFill>
        <p:spPr>
          <a:xfrm>
            <a:off x="239300" y="3804525"/>
            <a:ext cx="914400" cy="862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23"/>
          <p:cNvSpPr txBox="1">
            <a:spLocks noGrp="1"/>
          </p:cNvSpPr>
          <p:nvPr>
            <p:ph type="title"/>
          </p:nvPr>
        </p:nvSpPr>
        <p:spPr>
          <a:xfrm>
            <a:off x="1303800" y="387200"/>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500"/>
              <a:t>Azure database</a:t>
            </a:r>
            <a:endParaRPr sz="3500"/>
          </a:p>
        </p:txBody>
      </p:sp>
      <p:sp>
        <p:nvSpPr>
          <p:cNvPr id="357" name="Google Shape;357;p23"/>
          <p:cNvSpPr txBox="1">
            <a:spLocks noGrp="1"/>
          </p:cNvSpPr>
          <p:nvPr>
            <p:ph type="body" idx="1"/>
          </p:nvPr>
        </p:nvSpPr>
        <p:spPr>
          <a:xfrm>
            <a:off x="1303800" y="1449100"/>
            <a:ext cx="7293300" cy="3268200"/>
          </a:xfrm>
          <a:prstGeom prst="rect">
            <a:avLst/>
          </a:prstGeom>
        </p:spPr>
        <p:txBody>
          <a:bodyPr spcFirstLastPara="1" wrap="square" lIns="91425" tIns="91425" rIns="91425" bIns="91425" anchor="t" anchorCtr="0">
            <a:normAutofit fontScale="92500"/>
          </a:bodyPr>
          <a:lstStyle/>
          <a:p>
            <a:pPr marL="0" lvl="0" indent="0" algn="l" rtl="0">
              <a:lnSpc>
                <a:spcPct val="150000"/>
              </a:lnSpc>
              <a:spcBef>
                <a:spcPts val="0"/>
              </a:spcBef>
              <a:spcAft>
                <a:spcPts val="0"/>
              </a:spcAft>
              <a:buNone/>
            </a:pPr>
            <a:r>
              <a:rPr lang="en" sz="2200"/>
              <a:t>Azure SQL database</a:t>
            </a:r>
            <a:endParaRPr sz="2200"/>
          </a:p>
          <a:p>
            <a:pPr marL="0" lvl="0" indent="0" algn="l" rtl="0">
              <a:lnSpc>
                <a:spcPct val="150000"/>
              </a:lnSpc>
              <a:spcBef>
                <a:spcPts val="1200"/>
              </a:spcBef>
              <a:spcAft>
                <a:spcPts val="0"/>
              </a:spcAft>
              <a:buNone/>
            </a:pPr>
            <a:r>
              <a:rPr lang="en" sz="2200"/>
              <a:t>Azure database for MySQL</a:t>
            </a:r>
            <a:endParaRPr sz="2200"/>
          </a:p>
          <a:p>
            <a:pPr marL="0" lvl="0" indent="0" algn="l" rtl="0">
              <a:lnSpc>
                <a:spcPct val="150000"/>
              </a:lnSpc>
              <a:spcBef>
                <a:spcPts val="1200"/>
              </a:spcBef>
              <a:spcAft>
                <a:spcPts val="0"/>
              </a:spcAft>
              <a:buNone/>
            </a:pPr>
            <a:r>
              <a:rPr lang="en" sz="2200"/>
              <a:t>Azure database for PostgreSQL</a:t>
            </a:r>
            <a:endParaRPr sz="2200"/>
          </a:p>
          <a:p>
            <a:pPr marL="0" lvl="0" indent="0" algn="l" rtl="0">
              <a:lnSpc>
                <a:spcPct val="150000"/>
              </a:lnSpc>
              <a:spcBef>
                <a:spcPts val="1200"/>
              </a:spcBef>
              <a:spcAft>
                <a:spcPts val="0"/>
              </a:spcAft>
              <a:buNone/>
            </a:pPr>
            <a:r>
              <a:rPr lang="en" sz="2200"/>
              <a:t>Azure database for MariaDB</a:t>
            </a:r>
            <a:endParaRPr sz="2200"/>
          </a:p>
          <a:p>
            <a:pPr marL="0" lvl="0" indent="0" algn="l" rtl="0">
              <a:lnSpc>
                <a:spcPct val="150000"/>
              </a:lnSpc>
              <a:spcBef>
                <a:spcPts val="1200"/>
              </a:spcBef>
              <a:spcAft>
                <a:spcPts val="1200"/>
              </a:spcAft>
              <a:buNone/>
            </a:pPr>
            <a:r>
              <a:rPr lang="en" sz="2200"/>
              <a:t>VM images with Oracle SQL server etc</a:t>
            </a:r>
            <a:endParaRPr sz="2200"/>
          </a:p>
        </p:txBody>
      </p:sp>
      <p:pic>
        <p:nvPicPr>
          <p:cNvPr id="358" name="Google Shape;358;p23"/>
          <p:cNvPicPr preferRelativeResize="0"/>
          <p:nvPr/>
        </p:nvPicPr>
        <p:blipFill>
          <a:blip r:embed="rId3">
            <a:alphaModFix/>
          </a:blip>
          <a:stretch>
            <a:fillRect/>
          </a:stretch>
        </p:blipFill>
        <p:spPr>
          <a:xfrm>
            <a:off x="255275" y="1269275"/>
            <a:ext cx="828675" cy="35147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24"/>
          <p:cNvSpPr txBox="1">
            <a:spLocks noGrp="1"/>
          </p:cNvSpPr>
          <p:nvPr>
            <p:ph type="title"/>
          </p:nvPr>
        </p:nvSpPr>
        <p:spPr>
          <a:xfrm>
            <a:off x="1303800" y="299350"/>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200"/>
              <a:t>Azure Storage Account</a:t>
            </a:r>
            <a:endParaRPr sz="3200"/>
          </a:p>
        </p:txBody>
      </p:sp>
      <p:sp>
        <p:nvSpPr>
          <p:cNvPr id="364" name="Google Shape;364;p24"/>
          <p:cNvSpPr txBox="1">
            <a:spLocks noGrp="1"/>
          </p:cNvSpPr>
          <p:nvPr>
            <p:ph type="body" idx="1"/>
          </p:nvPr>
        </p:nvSpPr>
        <p:spPr>
          <a:xfrm>
            <a:off x="1303800" y="1437350"/>
            <a:ext cx="7030500" cy="3433200"/>
          </a:xfrm>
          <a:prstGeom prst="rect">
            <a:avLst/>
          </a:prstGeom>
        </p:spPr>
        <p:txBody>
          <a:bodyPr spcFirstLastPara="1" wrap="square" lIns="91425" tIns="91425" rIns="91425" bIns="91425" anchor="t" anchorCtr="0">
            <a:normAutofit lnSpcReduction="10000"/>
          </a:bodyPr>
          <a:lstStyle/>
          <a:p>
            <a:pPr marL="0" lvl="0" indent="0" algn="l" rtl="0">
              <a:lnSpc>
                <a:spcPct val="150000"/>
              </a:lnSpc>
              <a:spcBef>
                <a:spcPts val="0"/>
              </a:spcBef>
              <a:spcAft>
                <a:spcPts val="0"/>
              </a:spcAft>
              <a:buNone/>
            </a:pPr>
            <a:r>
              <a:rPr lang="en" sz="2300"/>
              <a:t>Blob storage</a:t>
            </a:r>
            <a:endParaRPr sz="2300"/>
          </a:p>
          <a:p>
            <a:pPr marL="0" lvl="0" indent="0" algn="l" rtl="0">
              <a:lnSpc>
                <a:spcPct val="150000"/>
              </a:lnSpc>
              <a:spcBef>
                <a:spcPts val="1200"/>
              </a:spcBef>
              <a:spcAft>
                <a:spcPts val="0"/>
              </a:spcAft>
              <a:buNone/>
            </a:pPr>
            <a:r>
              <a:rPr lang="en" sz="2300"/>
              <a:t>File storage</a:t>
            </a:r>
            <a:endParaRPr sz="2300"/>
          </a:p>
          <a:p>
            <a:pPr marL="0" lvl="0" indent="0" algn="l" rtl="0">
              <a:lnSpc>
                <a:spcPct val="150000"/>
              </a:lnSpc>
              <a:spcBef>
                <a:spcPts val="1200"/>
              </a:spcBef>
              <a:spcAft>
                <a:spcPts val="0"/>
              </a:spcAft>
              <a:buNone/>
            </a:pPr>
            <a:r>
              <a:rPr lang="en" sz="2300"/>
              <a:t>Disk storage</a:t>
            </a:r>
            <a:endParaRPr sz="2300"/>
          </a:p>
          <a:p>
            <a:pPr marL="0" lvl="0" indent="0" algn="l" rtl="0">
              <a:lnSpc>
                <a:spcPct val="150000"/>
              </a:lnSpc>
              <a:spcBef>
                <a:spcPts val="1200"/>
              </a:spcBef>
              <a:spcAft>
                <a:spcPts val="0"/>
              </a:spcAft>
              <a:buNone/>
            </a:pPr>
            <a:r>
              <a:rPr lang="en" sz="2300"/>
              <a:t>Table storage</a:t>
            </a:r>
            <a:endParaRPr sz="2300"/>
          </a:p>
          <a:p>
            <a:pPr marL="0" lvl="0" indent="0" algn="l" rtl="0">
              <a:lnSpc>
                <a:spcPct val="150000"/>
              </a:lnSpc>
              <a:spcBef>
                <a:spcPts val="1200"/>
              </a:spcBef>
              <a:spcAft>
                <a:spcPts val="1200"/>
              </a:spcAft>
              <a:buNone/>
            </a:pPr>
            <a:r>
              <a:rPr lang="en" sz="2300"/>
              <a:t>Queue storage</a:t>
            </a:r>
            <a:endParaRPr sz="2300"/>
          </a:p>
        </p:txBody>
      </p:sp>
      <p:pic>
        <p:nvPicPr>
          <p:cNvPr id="365" name="Google Shape;365;p24"/>
          <p:cNvPicPr preferRelativeResize="0"/>
          <p:nvPr/>
        </p:nvPicPr>
        <p:blipFill>
          <a:blip r:embed="rId3">
            <a:alphaModFix/>
          </a:blip>
          <a:stretch>
            <a:fillRect/>
          </a:stretch>
        </p:blipFill>
        <p:spPr>
          <a:xfrm>
            <a:off x="137700" y="1298650"/>
            <a:ext cx="952500" cy="35718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77A53-BB60-F3C0-86A3-A29763CF784C}"/>
              </a:ext>
            </a:extLst>
          </p:cNvPr>
          <p:cNvSpPr>
            <a:spLocks noGrp="1"/>
          </p:cNvSpPr>
          <p:nvPr>
            <p:ph type="title"/>
          </p:nvPr>
        </p:nvSpPr>
        <p:spPr>
          <a:xfrm>
            <a:off x="1303800" y="598575"/>
            <a:ext cx="7030500" cy="663555"/>
          </a:xfrm>
        </p:spPr>
        <p:txBody>
          <a:bodyPr/>
          <a:lstStyle/>
          <a:p>
            <a:r>
              <a:rPr lang="en-US" dirty="0"/>
              <a:t>Data Factory component </a:t>
            </a:r>
          </a:p>
        </p:txBody>
      </p:sp>
      <p:sp>
        <p:nvSpPr>
          <p:cNvPr id="3" name="Text Placeholder 2">
            <a:extLst>
              <a:ext uri="{FF2B5EF4-FFF2-40B4-BE49-F238E27FC236}">
                <a16:creationId xmlns:a16="http://schemas.microsoft.com/office/drawing/2014/main" id="{D4804482-07AB-5DB2-CA29-C23537CCECC3}"/>
              </a:ext>
            </a:extLst>
          </p:cNvPr>
          <p:cNvSpPr>
            <a:spLocks noGrp="1"/>
          </p:cNvSpPr>
          <p:nvPr>
            <p:ph type="body" idx="1"/>
          </p:nvPr>
        </p:nvSpPr>
        <p:spPr>
          <a:xfrm>
            <a:off x="4745865" y="1191295"/>
            <a:ext cx="3915177" cy="3664039"/>
          </a:xfrm>
        </p:spPr>
        <p:txBody>
          <a:bodyPr/>
          <a:lstStyle/>
          <a:p>
            <a:endParaRPr lang="en-US" dirty="0"/>
          </a:p>
        </p:txBody>
      </p:sp>
      <p:pic>
        <p:nvPicPr>
          <p:cNvPr id="5" name="Picture 4">
            <a:extLst>
              <a:ext uri="{FF2B5EF4-FFF2-40B4-BE49-F238E27FC236}">
                <a16:creationId xmlns:a16="http://schemas.microsoft.com/office/drawing/2014/main" id="{71DF0BFF-2039-DFC0-D969-22A8A1060347}"/>
              </a:ext>
            </a:extLst>
          </p:cNvPr>
          <p:cNvPicPr>
            <a:picLocks noChangeAspect="1"/>
          </p:cNvPicPr>
          <p:nvPr/>
        </p:nvPicPr>
        <p:blipFill>
          <a:blip r:embed="rId2"/>
          <a:stretch>
            <a:fillRect/>
          </a:stretch>
        </p:blipFill>
        <p:spPr>
          <a:xfrm>
            <a:off x="135945" y="1713153"/>
            <a:ext cx="4519052" cy="2644369"/>
          </a:xfrm>
          <a:prstGeom prst="rect">
            <a:avLst/>
          </a:prstGeom>
        </p:spPr>
      </p:pic>
    </p:spTree>
    <p:extLst>
      <p:ext uri="{BB962C8B-B14F-4D97-AF65-F5344CB8AC3E}">
        <p14:creationId xmlns:p14="http://schemas.microsoft.com/office/powerpoint/2010/main" val="5747853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25"/>
          <p:cNvSpPr txBox="1">
            <a:spLocks noGrp="1"/>
          </p:cNvSpPr>
          <p:nvPr>
            <p:ph type="title"/>
          </p:nvPr>
        </p:nvSpPr>
        <p:spPr>
          <a:xfrm>
            <a:off x="311700" y="-77500"/>
            <a:ext cx="8520600" cy="3364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 sz="7300"/>
              <a:t>Environment </a:t>
            </a:r>
            <a:endParaRPr sz="7300"/>
          </a:p>
          <a:p>
            <a:pPr marL="0" lvl="0" indent="0" algn="ctr" rtl="0">
              <a:spcBef>
                <a:spcPts val="0"/>
              </a:spcBef>
              <a:spcAft>
                <a:spcPts val="0"/>
              </a:spcAft>
              <a:buSzPts val="990"/>
              <a:buNone/>
            </a:pPr>
            <a:r>
              <a:rPr lang="en" sz="7300"/>
              <a:t>set-up</a:t>
            </a:r>
            <a:endParaRPr sz="73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pic>
        <p:nvPicPr>
          <p:cNvPr id="375" name="Google Shape;375;p26"/>
          <p:cNvPicPr preferRelativeResize="0"/>
          <p:nvPr/>
        </p:nvPicPr>
        <p:blipFill>
          <a:blip r:embed="rId3">
            <a:alphaModFix/>
          </a:blip>
          <a:stretch>
            <a:fillRect/>
          </a:stretch>
        </p:blipFill>
        <p:spPr>
          <a:xfrm>
            <a:off x="577925" y="293925"/>
            <a:ext cx="7988150" cy="43997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A1AF7-D7A7-51FC-856F-176370AA9594}"/>
              </a:ext>
            </a:extLst>
          </p:cNvPr>
          <p:cNvSpPr>
            <a:spLocks noGrp="1"/>
          </p:cNvSpPr>
          <p:nvPr>
            <p:ph type="title"/>
          </p:nvPr>
        </p:nvSpPr>
        <p:spPr/>
        <p:txBody>
          <a:bodyPr/>
          <a:lstStyle/>
          <a:p>
            <a:r>
              <a:rPr lang="en-US" dirty="0"/>
              <a:t>Setting the general properties</a:t>
            </a:r>
          </a:p>
        </p:txBody>
      </p:sp>
      <p:sp>
        <p:nvSpPr>
          <p:cNvPr id="3" name="Text Placeholder 2">
            <a:extLst>
              <a:ext uri="{FF2B5EF4-FFF2-40B4-BE49-F238E27FC236}">
                <a16:creationId xmlns:a16="http://schemas.microsoft.com/office/drawing/2014/main" id="{314D0A56-4EDD-FBEE-D37D-DCDB526F2246}"/>
              </a:ext>
            </a:extLst>
          </p:cNvPr>
          <p:cNvSpPr>
            <a:spLocks noGrp="1"/>
          </p:cNvSpPr>
          <p:nvPr>
            <p:ph type="body" idx="1"/>
          </p:nvPr>
        </p:nvSpPr>
        <p:spPr>
          <a:xfrm>
            <a:off x="5492839" y="1597876"/>
            <a:ext cx="3227827" cy="2541600"/>
          </a:xfrm>
        </p:spPr>
        <p:txBody>
          <a:bodyPr/>
          <a:lstStyle/>
          <a:p>
            <a:r>
              <a:rPr lang="en-US" dirty="0"/>
              <a:t>Go to Activities -&gt; general</a:t>
            </a:r>
          </a:p>
          <a:p>
            <a:r>
              <a:rPr lang="en-US" dirty="0"/>
              <a:t>Make changes  wherever is highlighted values are.</a:t>
            </a:r>
          </a:p>
          <a:p>
            <a:endParaRPr lang="en-US" dirty="0"/>
          </a:p>
        </p:txBody>
      </p:sp>
      <p:pic>
        <p:nvPicPr>
          <p:cNvPr id="5" name="Picture 4">
            <a:extLst>
              <a:ext uri="{FF2B5EF4-FFF2-40B4-BE49-F238E27FC236}">
                <a16:creationId xmlns:a16="http://schemas.microsoft.com/office/drawing/2014/main" id="{B63632A0-9CAD-821C-79A3-CED49D24DD37}"/>
              </a:ext>
            </a:extLst>
          </p:cNvPr>
          <p:cNvPicPr>
            <a:picLocks noChangeAspect="1"/>
          </p:cNvPicPr>
          <p:nvPr/>
        </p:nvPicPr>
        <p:blipFill>
          <a:blip r:embed="rId2"/>
          <a:stretch>
            <a:fillRect/>
          </a:stretch>
        </p:blipFill>
        <p:spPr>
          <a:xfrm>
            <a:off x="234692" y="1597875"/>
            <a:ext cx="4973380" cy="2541601"/>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5C2E20C8-9228-41FA-5B03-54D2F57810C4}"/>
                  </a:ext>
                </a:extLst>
              </p14:cNvPr>
              <p14:cNvContentPartPr/>
              <p14:nvPr/>
            </p14:nvContentPartPr>
            <p14:xfrm>
              <a:off x="4267010" y="2304870"/>
              <a:ext cx="866160" cy="33120"/>
            </p14:xfrm>
          </p:contentPart>
        </mc:Choice>
        <mc:Fallback xmlns="">
          <p:pic>
            <p:nvPicPr>
              <p:cNvPr id="6" name="Ink 5">
                <a:extLst>
                  <a:ext uri="{FF2B5EF4-FFF2-40B4-BE49-F238E27FC236}">
                    <a16:creationId xmlns:a16="http://schemas.microsoft.com/office/drawing/2014/main" id="{5C2E20C8-9228-41FA-5B03-54D2F57810C4}"/>
                  </a:ext>
                </a:extLst>
              </p:cNvPr>
              <p:cNvPicPr/>
              <p:nvPr/>
            </p:nvPicPr>
            <p:blipFill>
              <a:blip r:embed="rId4"/>
              <a:stretch>
                <a:fillRect/>
              </a:stretch>
            </p:blipFill>
            <p:spPr>
              <a:xfrm>
                <a:off x="4231370" y="2233230"/>
                <a:ext cx="93780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8AB29190-E4CC-E052-CDA1-68A0C6DCCDD3}"/>
                  </a:ext>
                </a:extLst>
              </p14:cNvPr>
              <p14:cNvContentPartPr/>
              <p14:nvPr/>
            </p14:nvContentPartPr>
            <p14:xfrm>
              <a:off x="2692010" y="3129990"/>
              <a:ext cx="241200" cy="19800"/>
            </p14:xfrm>
          </p:contentPart>
        </mc:Choice>
        <mc:Fallback xmlns="">
          <p:pic>
            <p:nvPicPr>
              <p:cNvPr id="7" name="Ink 6">
                <a:extLst>
                  <a:ext uri="{FF2B5EF4-FFF2-40B4-BE49-F238E27FC236}">
                    <a16:creationId xmlns:a16="http://schemas.microsoft.com/office/drawing/2014/main" id="{8AB29190-E4CC-E052-CDA1-68A0C6DCCDD3}"/>
                  </a:ext>
                </a:extLst>
              </p:cNvPr>
              <p:cNvPicPr/>
              <p:nvPr/>
            </p:nvPicPr>
            <p:blipFill>
              <a:blip r:embed="rId6"/>
              <a:stretch>
                <a:fillRect/>
              </a:stretch>
            </p:blipFill>
            <p:spPr>
              <a:xfrm>
                <a:off x="2656370" y="3058350"/>
                <a:ext cx="31284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4336AD2A-A963-F337-8E57-742A7298D5AD}"/>
                  </a:ext>
                </a:extLst>
              </p14:cNvPr>
              <p14:cNvContentPartPr/>
              <p14:nvPr/>
            </p14:nvContentPartPr>
            <p14:xfrm>
              <a:off x="2940050" y="3130350"/>
              <a:ext cx="360" cy="360"/>
            </p14:xfrm>
          </p:contentPart>
        </mc:Choice>
        <mc:Fallback xmlns="">
          <p:pic>
            <p:nvPicPr>
              <p:cNvPr id="8" name="Ink 7">
                <a:extLst>
                  <a:ext uri="{FF2B5EF4-FFF2-40B4-BE49-F238E27FC236}">
                    <a16:creationId xmlns:a16="http://schemas.microsoft.com/office/drawing/2014/main" id="{4336AD2A-A963-F337-8E57-742A7298D5AD}"/>
                  </a:ext>
                </a:extLst>
              </p:cNvPr>
              <p:cNvPicPr/>
              <p:nvPr/>
            </p:nvPicPr>
            <p:blipFill>
              <a:blip r:embed="rId8"/>
              <a:stretch>
                <a:fillRect/>
              </a:stretch>
            </p:blipFill>
            <p:spPr>
              <a:xfrm>
                <a:off x="2904050" y="3058350"/>
                <a:ext cx="720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DDA11250-F758-A899-C196-CE1001AC13BB}"/>
                  </a:ext>
                </a:extLst>
              </p14:cNvPr>
              <p14:cNvContentPartPr/>
              <p14:nvPr/>
            </p14:nvContentPartPr>
            <p14:xfrm>
              <a:off x="2806490" y="3320430"/>
              <a:ext cx="874800" cy="33120"/>
            </p14:xfrm>
          </p:contentPart>
        </mc:Choice>
        <mc:Fallback xmlns="">
          <p:pic>
            <p:nvPicPr>
              <p:cNvPr id="9" name="Ink 8">
                <a:extLst>
                  <a:ext uri="{FF2B5EF4-FFF2-40B4-BE49-F238E27FC236}">
                    <a16:creationId xmlns:a16="http://schemas.microsoft.com/office/drawing/2014/main" id="{DDA11250-F758-A899-C196-CE1001AC13BB}"/>
                  </a:ext>
                </a:extLst>
              </p:cNvPr>
              <p:cNvPicPr/>
              <p:nvPr/>
            </p:nvPicPr>
            <p:blipFill>
              <a:blip r:embed="rId10"/>
              <a:stretch>
                <a:fillRect/>
              </a:stretch>
            </p:blipFill>
            <p:spPr>
              <a:xfrm>
                <a:off x="2770490" y="3248790"/>
                <a:ext cx="946440" cy="176760"/>
              </a:xfrm>
              <a:prstGeom prst="rect">
                <a:avLst/>
              </a:prstGeom>
            </p:spPr>
          </p:pic>
        </mc:Fallback>
      </mc:AlternateContent>
    </p:spTree>
    <p:extLst>
      <p:ext uri="{BB962C8B-B14F-4D97-AF65-F5344CB8AC3E}">
        <p14:creationId xmlns:p14="http://schemas.microsoft.com/office/powerpoint/2010/main" val="3583608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7CF7B-1F55-966D-B665-CDE22D3F18DB}"/>
              </a:ext>
            </a:extLst>
          </p:cNvPr>
          <p:cNvSpPr>
            <a:spLocks noGrp="1"/>
          </p:cNvSpPr>
          <p:nvPr>
            <p:ph type="title"/>
          </p:nvPr>
        </p:nvSpPr>
        <p:spPr>
          <a:xfrm>
            <a:off x="1209223" y="180011"/>
            <a:ext cx="7030500" cy="999300"/>
          </a:xfrm>
        </p:spPr>
        <p:txBody>
          <a:bodyPr/>
          <a:lstStyle/>
          <a:p>
            <a:r>
              <a:rPr lang="en-US" dirty="0"/>
              <a:t>Databricks Notebook</a:t>
            </a:r>
          </a:p>
        </p:txBody>
      </p:sp>
      <p:sp>
        <p:nvSpPr>
          <p:cNvPr id="3" name="Text Placeholder 2">
            <a:extLst>
              <a:ext uri="{FF2B5EF4-FFF2-40B4-BE49-F238E27FC236}">
                <a16:creationId xmlns:a16="http://schemas.microsoft.com/office/drawing/2014/main" id="{0B35F0B8-D9EA-6CE4-3B7A-74EC0DBD9033}"/>
              </a:ext>
            </a:extLst>
          </p:cNvPr>
          <p:cNvSpPr>
            <a:spLocks noGrp="1"/>
          </p:cNvSpPr>
          <p:nvPr>
            <p:ph type="body" idx="1"/>
          </p:nvPr>
        </p:nvSpPr>
        <p:spPr>
          <a:xfrm>
            <a:off x="6516710" y="808681"/>
            <a:ext cx="2191078" cy="3330794"/>
          </a:xfrm>
        </p:spPr>
        <p:txBody>
          <a:bodyPr/>
          <a:lstStyle/>
          <a:p>
            <a:r>
              <a:rPr lang="en-US" dirty="0"/>
              <a:t>Go to setting in Databricks</a:t>
            </a:r>
          </a:p>
          <a:p>
            <a:r>
              <a:rPr lang="en-US" dirty="0"/>
              <a:t>Select developer and then move to access token </a:t>
            </a:r>
          </a:p>
        </p:txBody>
      </p:sp>
      <p:pic>
        <p:nvPicPr>
          <p:cNvPr id="5" name="Picture 4">
            <a:extLst>
              <a:ext uri="{FF2B5EF4-FFF2-40B4-BE49-F238E27FC236}">
                <a16:creationId xmlns:a16="http://schemas.microsoft.com/office/drawing/2014/main" id="{5C8651D6-5232-8299-9B92-2BBB127C0CB5}"/>
              </a:ext>
            </a:extLst>
          </p:cNvPr>
          <p:cNvPicPr>
            <a:picLocks noChangeAspect="1"/>
          </p:cNvPicPr>
          <p:nvPr/>
        </p:nvPicPr>
        <p:blipFill>
          <a:blip r:embed="rId2"/>
          <a:stretch>
            <a:fillRect/>
          </a:stretch>
        </p:blipFill>
        <p:spPr>
          <a:xfrm>
            <a:off x="296619" y="1465504"/>
            <a:ext cx="5704970" cy="2720130"/>
          </a:xfrm>
          <a:prstGeom prst="rect">
            <a:avLst/>
          </a:prstGeom>
        </p:spPr>
      </p:pic>
    </p:spTree>
    <p:extLst>
      <p:ext uri="{BB962C8B-B14F-4D97-AF65-F5344CB8AC3E}">
        <p14:creationId xmlns:p14="http://schemas.microsoft.com/office/powerpoint/2010/main" val="32537178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2F713-6687-335F-7812-ACF4067413F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7056561E-7547-E62B-B3ED-ED20146F171A}"/>
              </a:ext>
            </a:extLst>
          </p:cNvPr>
          <p:cNvSpPr>
            <a:spLocks noGrp="1"/>
          </p:cNvSpPr>
          <p:nvPr>
            <p:ph type="body" idx="1"/>
          </p:nvPr>
        </p:nvSpPr>
        <p:spPr/>
        <p:txBody>
          <a:bodyPr/>
          <a:lstStyle/>
          <a:p>
            <a:endParaRPr lang="en-US"/>
          </a:p>
        </p:txBody>
      </p:sp>
      <p:pic>
        <p:nvPicPr>
          <p:cNvPr id="7" name="Picture 6">
            <a:extLst>
              <a:ext uri="{FF2B5EF4-FFF2-40B4-BE49-F238E27FC236}">
                <a16:creationId xmlns:a16="http://schemas.microsoft.com/office/drawing/2014/main" id="{BD99F125-21E6-4681-AB0A-199632E30434}"/>
              </a:ext>
            </a:extLst>
          </p:cNvPr>
          <p:cNvPicPr>
            <a:picLocks noChangeAspect="1"/>
          </p:cNvPicPr>
          <p:nvPr/>
        </p:nvPicPr>
        <p:blipFill>
          <a:blip r:embed="rId2"/>
          <a:stretch>
            <a:fillRect/>
          </a:stretch>
        </p:blipFill>
        <p:spPr>
          <a:xfrm>
            <a:off x="566670" y="515155"/>
            <a:ext cx="8237921" cy="4534677"/>
          </a:xfrm>
          <a:prstGeom prst="rect">
            <a:avLst/>
          </a:prstGeom>
        </p:spPr>
      </p:pic>
    </p:spTree>
    <p:extLst>
      <p:ext uri="{BB962C8B-B14F-4D97-AF65-F5344CB8AC3E}">
        <p14:creationId xmlns:p14="http://schemas.microsoft.com/office/powerpoint/2010/main" val="25936261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0E7BC-EBA7-DC23-5DB2-D9C3C08C9300}"/>
              </a:ext>
            </a:extLst>
          </p:cNvPr>
          <p:cNvSpPr>
            <a:spLocks noGrp="1"/>
          </p:cNvSpPr>
          <p:nvPr>
            <p:ph type="title"/>
          </p:nvPr>
        </p:nvSpPr>
        <p:spPr/>
        <p:txBody>
          <a:bodyPr/>
          <a:lstStyle/>
          <a:p>
            <a:r>
              <a:rPr lang="en-US" dirty="0"/>
              <a:t>Generate access token</a:t>
            </a:r>
          </a:p>
        </p:txBody>
      </p:sp>
      <p:sp>
        <p:nvSpPr>
          <p:cNvPr id="3" name="Text Placeholder 2">
            <a:extLst>
              <a:ext uri="{FF2B5EF4-FFF2-40B4-BE49-F238E27FC236}">
                <a16:creationId xmlns:a16="http://schemas.microsoft.com/office/drawing/2014/main" id="{E1A9A6D9-6C01-38BB-645E-552CE2A5C67C}"/>
              </a:ext>
            </a:extLst>
          </p:cNvPr>
          <p:cNvSpPr>
            <a:spLocks noGrp="1"/>
          </p:cNvSpPr>
          <p:nvPr>
            <p:ph type="body" idx="1"/>
          </p:nvPr>
        </p:nvSpPr>
        <p:spPr>
          <a:xfrm>
            <a:off x="5376929" y="1906073"/>
            <a:ext cx="3554569" cy="2880497"/>
          </a:xfrm>
        </p:spPr>
        <p:txBody>
          <a:bodyPr/>
          <a:lstStyle/>
          <a:p>
            <a:endParaRPr lang="en-US" dirty="0"/>
          </a:p>
        </p:txBody>
      </p:sp>
      <p:pic>
        <p:nvPicPr>
          <p:cNvPr id="5" name="Picture 4">
            <a:extLst>
              <a:ext uri="{FF2B5EF4-FFF2-40B4-BE49-F238E27FC236}">
                <a16:creationId xmlns:a16="http://schemas.microsoft.com/office/drawing/2014/main" id="{05F52984-7DF1-94AE-D394-90D9BC7CA243}"/>
              </a:ext>
            </a:extLst>
          </p:cNvPr>
          <p:cNvPicPr>
            <a:picLocks noChangeAspect="1"/>
          </p:cNvPicPr>
          <p:nvPr/>
        </p:nvPicPr>
        <p:blipFill>
          <a:blip r:embed="rId2"/>
          <a:stretch>
            <a:fillRect/>
          </a:stretch>
        </p:blipFill>
        <p:spPr>
          <a:xfrm>
            <a:off x="0" y="2244969"/>
            <a:ext cx="5246564" cy="2541601"/>
          </a:xfrm>
          <a:prstGeom prst="rect">
            <a:avLst/>
          </a:prstGeom>
        </p:spPr>
      </p:pic>
    </p:spTree>
    <p:extLst>
      <p:ext uri="{BB962C8B-B14F-4D97-AF65-F5344CB8AC3E}">
        <p14:creationId xmlns:p14="http://schemas.microsoft.com/office/powerpoint/2010/main" val="38733211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CCDCF-DB78-FB68-DC8E-9B5A175D972A}"/>
              </a:ext>
            </a:extLst>
          </p:cNvPr>
          <p:cNvSpPr>
            <a:spLocks noGrp="1"/>
          </p:cNvSpPr>
          <p:nvPr>
            <p:ph type="title"/>
          </p:nvPr>
        </p:nvSpPr>
        <p:spPr/>
        <p:txBody>
          <a:bodyPr/>
          <a:lstStyle/>
          <a:p>
            <a:r>
              <a:rPr lang="en-US" dirty="0"/>
              <a:t>Setting</a:t>
            </a:r>
          </a:p>
        </p:txBody>
      </p:sp>
      <p:sp>
        <p:nvSpPr>
          <p:cNvPr id="3" name="Text Placeholder 2">
            <a:extLst>
              <a:ext uri="{FF2B5EF4-FFF2-40B4-BE49-F238E27FC236}">
                <a16:creationId xmlns:a16="http://schemas.microsoft.com/office/drawing/2014/main" id="{363A3CD6-04FA-3544-1193-E79741E3B4F6}"/>
              </a:ext>
            </a:extLst>
          </p:cNvPr>
          <p:cNvSpPr>
            <a:spLocks noGrp="1"/>
          </p:cNvSpPr>
          <p:nvPr>
            <p:ph type="body" idx="1"/>
          </p:nvPr>
        </p:nvSpPr>
        <p:spPr>
          <a:xfrm>
            <a:off x="5164428" y="792051"/>
            <a:ext cx="3169872" cy="3739599"/>
          </a:xfrm>
        </p:spPr>
        <p:txBody>
          <a:bodyPr/>
          <a:lstStyle/>
          <a:p>
            <a:r>
              <a:rPr lang="en-US" dirty="0"/>
              <a:t>New link service is created either manually or from azure subscription</a:t>
            </a:r>
          </a:p>
          <a:p>
            <a:r>
              <a:rPr lang="en-US" dirty="0"/>
              <a:t>For manual:</a:t>
            </a:r>
          </a:p>
          <a:p>
            <a:r>
              <a:rPr lang="en-US" dirty="0"/>
              <a:t>Copy </a:t>
            </a:r>
            <a:r>
              <a:rPr lang="en-US" dirty="0" err="1"/>
              <a:t>databricks</a:t>
            </a:r>
            <a:r>
              <a:rPr lang="en-US" dirty="0"/>
              <a:t> URL and  </a:t>
            </a:r>
            <a:r>
              <a:rPr lang="en-US" dirty="0" err="1"/>
              <a:t>and</a:t>
            </a:r>
            <a:r>
              <a:rPr lang="en-US" dirty="0"/>
              <a:t> pass the access token generated in </a:t>
            </a:r>
            <a:r>
              <a:rPr lang="en-US" dirty="0" err="1"/>
              <a:t>databricks</a:t>
            </a:r>
            <a:r>
              <a:rPr lang="en-US" dirty="0"/>
              <a:t>.</a:t>
            </a:r>
          </a:p>
          <a:p>
            <a:r>
              <a:rPr lang="en-US" dirty="0"/>
              <a:t>Select the existing cluster and test the connection.</a:t>
            </a:r>
          </a:p>
          <a:p>
            <a:r>
              <a:rPr lang="en-US" dirty="0"/>
              <a:t>Once the connection successful then create the service.</a:t>
            </a:r>
          </a:p>
        </p:txBody>
      </p:sp>
      <p:pic>
        <p:nvPicPr>
          <p:cNvPr id="7" name="Picture 6">
            <a:extLst>
              <a:ext uri="{FF2B5EF4-FFF2-40B4-BE49-F238E27FC236}">
                <a16:creationId xmlns:a16="http://schemas.microsoft.com/office/drawing/2014/main" id="{E74D0EC1-DAFD-56EB-6C4A-7BFA549C4C95}"/>
              </a:ext>
            </a:extLst>
          </p:cNvPr>
          <p:cNvPicPr>
            <a:picLocks noChangeAspect="1"/>
          </p:cNvPicPr>
          <p:nvPr/>
        </p:nvPicPr>
        <p:blipFill>
          <a:blip r:embed="rId2"/>
          <a:stretch>
            <a:fillRect/>
          </a:stretch>
        </p:blipFill>
        <p:spPr>
          <a:xfrm>
            <a:off x="240533" y="1777548"/>
            <a:ext cx="4711102" cy="3153450"/>
          </a:xfrm>
          <a:prstGeom prst="rect">
            <a:avLst/>
          </a:prstGeom>
        </p:spPr>
      </p:pic>
    </p:spTree>
    <p:extLst>
      <p:ext uri="{BB962C8B-B14F-4D97-AF65-F5344CB8AC3E}">
        <p14:creationId xmlns:p14="http://schemas.microsoft.com/office/powerpoint/2010/main" val="6853758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26EF8-4A15-710B-6355-23F0EB07224B}"/>
              </a:ext>
            </a:extLst>
          </p:cNvPr>
          <p:cNvSpPr>
            <a:spLocks noGrp="1"/>
          </p:cNvSpPr>
          <p:nvPr>
            <p:ph type="title"/>
          </p:nvPr>
        </p:nvSpPr>
        <p:spPr/>
        <p:txBody>
          <a:bodyPr/>
          <a:lstStyle/>
          <a:p>
            <a:r>
              <a:rPr lang="en-US" dirty="0"/>
              <a:t>Browsing the path</a:t>
            </a:r>
          </a:p>
        </p:txBody>
      </p:sp>
      <p:sp>
        <p:nvSpPr>
          <p:cNvPr id="3" name="Text Placeholder 2">
            <a:extLst>
              <a:ext uri="{FF2B5EF4-FFF2-40B4-BE49-F238E27FC236}">
                <a16:creationId xmlns:a16="http://schemas.microsoft.com/office/drawing/2014/main" id="{77F17478-0443-7943-A8E1-C87F3D2B5C28}"/>
              </a:ext>
            </a:extLst>
          </p:cNvPr>
          <p:cNvSpPr>
            <a:spLocks noGrp="1"/>
          </p:cNvSpPr>
          <p:nvPr>
            <p:ph type="body" idx="1"/>
          </p:nvPr>
        </p:nvSpPr>
        <p:spPr>
          <a:xfrm>
            <a:off x="5743977" y="1403797"/>
            <a:ext cx="2949261" cy="3354947"/>
          </a:xfrm>
        </p:spPr>
        <p:txBody>
          <a:bodyPr/>
          <a:lstStyle/>
          <a:p>
            <a:r>
              <a:rPr lang="en-US" dirty="0"/>
              <a:t>Go to settings -&gt; browse</a:t>
            </a:r>
          </a:p>
          <a:p>
            <a:r>
              <a:rPr lang="en-US" dirty="0"/>
              <a:t>Select the file path</a:t>
            </a:r>
          </a:p>
        </p:txBody>
      </p:sp>
      <p:pic>
        <p:nvPicPr>
          <p:cNvPr id="5" name="Picture 4">
            <a:extLst>
              <a:ext uri="{FF2B5EF4-FFF2-40B4-BE49-F238E27FC236}">
                <a16:creationId xmlns:a16="http://schemas.microsoft.com/office/drawing/2014/main" id="{65A78BCB-8A49-09B9-051B-8C52F6F06A2F}"/>
              </a:ext>
            </a:extLst>
          </p:cNvPr>
          <p:cNvPicPr>
            <a:picLocks noChangeAspect="1"/>
          </p:cNvPicPr>
          <p:nvPr/>
        </p:nvPicPr>
        <p:blipFill>
          <a:blip r:embed="rId2"/>
          <a:stretch>
            <a:fillRect/>
          </a:stretch>
        </p:blipFill>
        <p:spPr>
          <a:xfrm>
            <a:off x="317487" y="1352282"/>
            <a:ext cx="5053001" cy="3534744"/>
          </a:xfrm>
          <a:prstGeom prst="rect">
            <a:avLst/>
          </a:prstGeom>
        </p:spPr>
      </p:pic>
    </p:spTree>
    <p:extLst>
      <p:ext uri="{BB962C8B-B14F-4D97-AF65-F5344CB8AC3E}">
        <p14:creationId xmlns:p14="http://schemas.microsoft.com/office/powerpoint/2010/main" val="3609329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FAAD7-F67B-5873-C7A7-EE426D9D31D8}"/>
              </a:ext>
            </a:extLst>
          </p:cNvPr>
          <p:cNvSpPr>
            <a:spLocks noGrp="1"/>
          </p:cNvSpPr>
          <p:nvPr>
            <p:ph type="title"/>
          </p:nvPr>
        </p:nvSpPr>
        <p:spPr/>
        <p:txBody>
          <a:bodyPr/>
          <a:lstStyle/>
          <a:p>
            <a:r>
              <a:rPr lang="en-US" dirty="0"/>
              <a:t>Adding Notebook path</a:t>
            </a:r>
          </a:p>
        </p:txBody>
      </p:sp>
      <p:sp>
        <p:nvSpPr>
          <p:cNvPr id="3" name="Text Placeholder 2">
            <a:extLst>
              <a:ext uri="{FF2B5EF4-FFF2-40B4-BE49-F238E27FC236}">
                <a16:creationId xmlns:a16="http://schemas.microsoft.com/office/drawing/2014/main" id="{78883F95-2C7B-3317-4C7B-04719F1EA0DB}"/>
              </a:ext>
            </a:extLst>
          </p:cNvPr>
          <p:cNvSpPr>
            <a:spLocks noGrp="1"/>
          </p:cNvSpPr>
          <p:nvPr>
            <p:ph type="body" idx="1"/>
          </p:nvPr>
        </p:nvSpPr>
        <p:spPr>
          <a:xfrm>
            <a:off x="5132230" y="1809481"/>
            <a:ext cx="3202069" cy="2722169"/>
          </a:xfrm>
        </p:spPr>
        <p:txBody>
          <a:bodyPr/>
          <a:lstStyle/>
          <a:p>
            <a:pPr marL="146050" indent="0">
              <a:buNone/>
            </a:pPr>
            <a:r>
              <a:rPr lang="en-US" dirty="0"/>
              <a:t>Adding path for execution from the </a:t>
            </a:r>
            <a:r>
              <a:rPr lang="en-US" dirty="0" err="1"/>
              <a:t>databricks</a:t>
            </a:r>
            <a:r>
              <a:rPr lang="en-US" dirty="0"/>
              <a:t> service.</a:t>
            </a:r>
          </a:p>
          <a:p>
            <a:pPr marL="146050" indent="0">
              <a:buNone/>
            </a:pPr>
            <a:r>
              <a:rPr lang="en-US" dirty="0"/>
              <a:t>As we have two parameter to pass in the notebook, same has to be shared </a:t>
            </a:r>
          </a:p>
        </p:txBody>
      </p:sp>
      <p:pic>
        <p:nvPicPr>
          <p:cNvPr id="5" name="Picture 4">
            <a:extLst>
              <a:ext uri="{FF2B5EF4-FFF2-40B4-BE49-F238E27FC236}">
                <a16:creationId xmlns:a16="http://schemas.microsoft.com/office/drawing/2014/main" id="{CA28BE5A-B90F-D036-7E4A-BDCC7C98F2E7}"/>
              </a:ext>
            </a:extLst>
          </p:cNvPr>
          <p:cNvPicPr>
            <a:picLocks noChangeAspect="1"/>
          </p:cNvPicPr>
          <p:nvPr/>
        </p:nvPicPr>
        <p:blipFill>
          <a:blip r:embed="rId2"/>
          <a:stretch>
            <a:fillRect/>
          </a:stretch>
        </p:blipFill>
        <p:spPr>
          <a:xfrm>
            <a:off x="227281" y="1809481"/>
            <a:ext cx="4687872" cy="3050683"/>
          </a:xfrm>
          <a:prstGeom prst="rect">
            <a:avLst/>
          </a:prstGeom>
        </p:spPr>
      </p:pic>
    </p:spTree>
    <p:extLst>
      <p:ext uri="{BB962C8B-B14F-4D97-AF65-F5344CB8AC3E}">
        <p14:creationId xmlns:p14="http://schemas.microsoft.com/office/powerpoint/2010/main" val="40060612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136F2-B90F-38C1-F870-2C622E785973}"/>
              </a:ext>
            </a:extLst>
          </p:cNvPr>
          <p:cNvSpPr>
            <a:spLocks noGrp="1"/>
          </p:cNvSpPr>
          <p:nvPr>
            <p:ph type="title"/>
          </p:nvPr>
        </p:nvSpPr>
        <p:spPr/>
        <p:txBody>
          <a:bodyPr/>
          <a:lstStyle/>
          <a:p>
            <a:r>
              <a:rPr lang="en-US" dirty="0"/>
              <a:t>Passing parameter to the file </a:t>
            </a:r>
          </a:p>
        </p:txBody>
      </p:sp>
      <p:sp>
        <p:nvSpPr>
          <p:cNvPr id="3" name="Text Placeholder 2">
            <a:extLst>
              <a:ext uri="{FF2B5EF4-FFF2-40B4-BE49-F238E27FC236}">
                <a16:creationId xmlns:a16="http://schemas.microsoft.com/office/drawing/2014/main" id="{FEFEF6C2-AB62-764A-0814-61F3416F03DF}"/>
              </a:ext>
            </a:extLst>
          </p:cNvPr>
          <p:cNvSpPr>
            <a:spLocks noGrp="1"/>
          </p:cNvSpPr>
          <p:nvPr>
            <p:ph type="body" idx="1"/>
          </p:nvPr>
        </p:nvSpPr>
        <p:spPr>
          <a:xfrm>
            <a:off x="5080715" y="1798593"/>
            <a:ext cx="3593205" cy="2812044"/>
          </a:xfrm>
        </p:spPr>
        <p:txBody>
          <a:bodyPr/>
          <a:lstStyle/>
          <a:p>
            <a:r>
              <a:rPr lang="en-US" dirty="0"/>
              <a:t>Click on the Base parameter and add new variable</a:t>
            </a:r>
          </a:p>
          <a:p>
            <a:r>
              <a:rPr lang="en-US" dirty="0"/>
              <a:t>We may hard code the value for execution</a:t>
            </a:r>
          </a:p>
          <a:p>
            <a:r>
              <a:rPr lang="en-US" dirty="0"/>
              <a:t>But may not be a suitable solution for pipeline.</a:t>
            </a:r>
          </a:p>
          <a:p>
            <a:r>
              <a:rPr lang="en-US" dirty="0"/>
              <a:t>Hence another way to click on the pane of </a:t>
            </a:r>
            <a:r>
              <a:rPr lang="en-US" dirty="0" err="1"/>
              <a:t>databrick</a:t>
            </a:r>
            <a:r>
              <a:rPr lang="en-US" dirty="0"/>
              <a:t> and you may see the next window tile.</a:t>
            </a:r>
          </a:p>
        </p:txBody>
      </p:sp>
      <p:pic>
        <p:nvPicPr>
          <p:cNvPr id="5" name="Picture 4">
            <a:extLst>
              <a:ext uri="{FF2B5EF4-FFF2-40B4-BE49-F238E27FC236}">
                <a16:creationId xmlns:a16="http://schemas.microsoft.com/office/drawing/2014/main" id="{C77EA841-977A-24CC-C242-3B8E81E2E99E}"/>
              </a:ext>
            </a:extLst>
          </p:cNvPr>
          <p:cNvPicPr>
            <a:picLocks noChangeAspect="1"/>
          </p:cNvPicPr>
          <p:nvPr/>
        </p:nvPicPr>
        <p:blipFill>
          <a:blip r:embed="rId2"/>
          <a:stretch>
            <a:fillRect/>
          </a:stretch>
        </p:blipFill>
        <p:spPr>
          <a:xfrm>
            <a:off x="227763" y="1798593"/>
            <a:ext cx="4558619" cy="2896137"/>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E03D44AB-FE09-6B98-D3BE-B96B37CF9ABB}"/>
                  </a:ext>
                </a:extLst>
              </p14:cNvPr>
              <p14:cNvContentPartPr/>
              <p14:nvPr/>
            </p14:nvContentPartPr>
            <p14:xfrm>
              <a:off x="1206000" y="4349880"/>
              <a:ext cx="717840" cy="221400"/>
            </p14:xfrm>
          </p:contentPart>
        </mc:Choice>
        <mc:Fallback xmlns="">
          <p:pic>
            <p:nvPicPr>
              <p:cNvPr id="4" name="Ink 3">
                <a:extLst>
                  <a:ext uri="{FF2B5EF4-FFF2-40B4-BE49-F238E27FC236}">
                    <a16:creationId xmlns:a16="http://schemas.microsoft.com/office/drawing/2014/main" id="{E03D44AB-FE09-6B98-D3BE-B96B37CF9ABB}"/>
                  </a:ext>
                </a:extLst>
              </p:cNvPr>
              <p:cNvPicPr/>
              <p:nvPr/>
            </p:nvPicPr>
            <p:blipFill>
              <a:blip r:embed="rId4"/>
              <a:stretch>
                <a:fillRect/>
              </a:stretch>
            </p:blipFill>
            <p:spPr>
              <a:xfrm>
                <a:off x="1190160" y="4286520"/>
                <a:ext cx="749160" cy="348120"/>
              </a:xfrm>
              <a:prstGeom prst="rect">
                <a:avLst/>
              </a:prstGeom>
            </p:spPr>
          </p:pic>
        </mc:Fallback>
      </mc:AlternateContent>
    </p:spTree>
    <p:extLst>
      <p:ext uri="{BB962C8B-B14F-4D97-AF65-F5344CB8AC3E}">
        <p14:creationId xmlns:p14="http://schemas.microsoft.com/office/powerpoint/2010/main" val="8622153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94298-CA78-0FFB-0D5B-9C3BF8644982}"/>
              </a:ext>
            </a:extLst>
          </p:cNvPr>
          <p:cNvSpPr>
            <a:spLocks noGrp="1"/>
          </p:cNvSpPr>
          <p:nvPr>
            <p:ph type="title"/>
          </p:nvPr>
        </p:nvSpPr>
        <p:spPr/>
        <p:txBody>
          <a:bodyPr/>
          <a:lstStyle/>
          <a:p>
            <a:r>
              <a:rPr lang="en-US" dirty="0"/>
              <a:t>Passing parameters to file</a:t>
            </a:r>
          </a:p>
        </p:txBody>
      </p:sp>
      <p:sp>
        <p:nvSpPr>
          <p:cNvPr id="3" name="Text Placeholder 2">
            <a:extLst>
              <a:ext uri="{FF2B5EF4-FFF2-40B4-BE49-F238E27FC236}">
                <a16:creationId xmlns:a16="http://schemas.microsoft.com/office/drawing/2014/main" id="{0664A1D2-7111-9AFE-DD82-744C47F2FD73}"/>
              </a:ext>
            </a:extLst>
          </p:cNvPr>
          <p:cNvSpPr>
            <a:spLocks noGrp="1"/>
          </p:cNvSpPr>
          <p:nvPr>
            <p:ph type="body" idx="1"/>
          </p:nvPr>
        </p:nvSpPr>
        <p:spPr>
          <a:xfrm>
            <a:off x="4784500" y="1539025"/>
            <a:ext cx="4056845" cy="3213279"/>
          </a:xfrm>
        </p:spPr>
        <p:txBody>
          <a:bodyPr/>
          <a:lstStyle/>
          <a:p>
            <a:r>
              <a:rPr lang="en-US" dirty="0"/>
              <a:t>Adding the variable</a:t>
            </a:r>
          </a:p>
        </p:txBody>
      </p:sp>
      <p:pic>
        <p:nvPicPr>
          <p:cNvPr id="7" name="Picture 6">
            <a:extLst>
              <a:ext uri="{FF2B5EF4-FFF2-40B4-BE49-F238E27FC236}">
                <a16:creationId xmlns:a16="http://schemas.microsoft.com/office/drawing/2014/main" id="{14505FC5-2465-4F62-DD18-1E5815650AFA}"/>
              </a:ext>
            </a:extLst>
          </p:cNvPr>
          <p:cNvPicPr>
            <a:picLocks noChangeAspect="1"/>
          </p:cNvPicPr>
          <p:nvPr/>
        </p:nvPicPr>
        <p:blipFill>
          <a:blip r:embed="rId2"/>
          <a:stretch>
            <a:fillRect/>
          </a:stretch>
        </p:blipFill>
        <p:spPr>
          <a:xfrm>
            <a:off x="155641" y="1671838"/>
            <a:ext cx="4500949" cy="2947652"/>
          </a:xfrm>
          <a:prstGeom prst="rect">
            <a:avLst/>
          </a:prstGeom>
        </p:spPr>
      </p:pic>
    </p:spTree>
    <p:extLst>
      <p:ext uri="{BB962C8B-B14F-4D97-AF65-F5344CB8AC3E}">
        <p14:creationId xmlns:p14="http://schemas.microsoft.com/office/powerpoint/2010/main" val="34979024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B044F-3B90-E1C2-6DA3-BC2093EE7A18}"/>
              </a:ext>
            </a:extLst>
          </p:cNvPr>
          <p:cNvSpPr>
            <a:spLocks noGrp="1"/>
          </p:cNvSpPr>
          <p:nvPr>
            <p:ph type="title"/>
          </p:nvPr>
        </p:nvSpPr>
        <p:spPr/>
        <p:txBody>
          <a:bodyPr/>
          <a:lstStyle/>
          <a:p>
            <a:r>
              <a:rPr lang="en-US" dirty="0"/>
              <a:t>Adding parameters</a:t>
            </a:r>
          </a:p>
        </p:txBody>
      </p:sp>
      <p:sp>
        <p:nvSpPr>
          <p:cNvPr id="3" name="Text Placeholder 2">
            <a:extLst>
              <a:ext uri="{FF2B5EF4-FFF2-40B4-BE49-F238E27FC236}">
                <a16:creationId xmlns:a16="http://schemas.microsoft.com/office/drawing/2014/main" id="{F16B0460-E5EA-86E1-E473-E93D4CCC74F2}"/>
              </a:ext>
            </a:extLst>
          </p:cNvPr>
          <p:cNvSpPr>
            <a:spLocks noGrp="1"/>
          </p:cNvSpPr>
          <p:nvPr>
            <p:ph type="body" idx="1"/>
          </p:nvPr>
        </p:nvSpPr>
        <p:spPr>
          <a:xfrm>
            <a:off x="4572000" y="1828799"/>
            <a:ext cx="3863662" cy="3031365"/>
          </a:xfrm>
        </p:spPr>
        <p:txBody>
          <a:bodyPr/>
          <a:lstStyle/>
          <a:p>
            <a:r>
              <a:rPr lang="en-US" dirty="0"/>
              <a:t>Adding parameters to base parameter.</a:t>
            </a:r>
          </a:p>
          <a:p>
            <a:r>
              <a:rPr lang="en-US" dirty="0"/>
              <a:t>Click on Add dynamic values</a:t>
            </a:r>
          </a:p>
          <a:p>
            <a:r>
              <a:rPr lang="en-US" dirty="0"/>
              <a:t>Pipeline expression builder window is showing valid parameters which is generated before</a:t>
            </a:r>
          </a:p>
          <a:p>
            <a:endParaRPr lang="en-US" dirty="0"/>
          </a:p>
        </p:txBody>
      </p:sp>
      <p:pic>
        <p:nvPicPr>
          <p:cNvPr id="7" name="Picture 6">
            <a:extLst>
              <a:ext uri="{FF2B5EF4-FFF2-40B4-BE49-F238E27FC236}">
                <a16:creationId xmlns:a16="http://schemas.microsoft.com/office/drawing/2014/main" id="{A6B477BB-F4F0-7AB7-3D0F-D971BD708CE1}"/>
              </a:ext>
            </a:extLst>
          </p:cNvPr>
          <p:cNvPicPr>
            <a:picLocks noChangeAspect="1"/>
          </p:cNvPicPr>
          <p:nvPr/>
        </p:nvPicPr>
        <p:blipFill>
          <a:blip r:embed="rId2"/>
          <a:stretch>
            <a:fillRect/>
          </a:stretch>
        </p:blipFill>
        <p:spPr>
          <a:xfrm>
            <a:off x="259874" y="1725769"/>
            <a:ext cx="4198743" cy="2819156"/>
          </a:xfrm>
          <a:prstGeom prst="rect">
            <a:avLst/>
          </a:prstGeom>
        </p:spPr>
      </p:pic>
    </p:spTree>
    <p:extLst>
      <p:ext uri="{BB962C8B-B14F-4D97-AF65-F5344CB8AC3E}">
        <p14:creationId xmlns:p14="http://schemas.microsoft.com/office/powerpoint/2010/main" val="22614670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C8736-3AC2-C76F-8EFA-FE4C80CCCA34}"/>
              </a:ext>
            </a:extLst>
          </p:cNvPr>
          <p:cNvSpPr>
            <a:spLocks noGrp="1"/>
          </p:cNvSpPr>
          <p:nvPr>
            <p:ph type="title"/>
          </p:nvPr>
        </p:nvSpPr>
        <p:spPr/>
        <p:txBody>
          <a:bodyPr/>
          <a:lstStyle/>
          <a:p>
            <a:r>
              <a:rPr lang="en-US" dirty="0"/>
              <a:t>Adding date parameter </a:t>
            </a:r>
          </a:p>
        </p:txBody>
      </p:sp>
      <p:sp>
        <p:nvSpPr>
          <p:cNvPr id="3" name="Text Placeholder 2">
            <a:extLst>
              <a:ext uri="{FF2B5EF4-FFF2-40B4-BE49-F238E27FC236}">
                <a16:creationId xmlns:a16="http://schemas.microsoft.com/office/drawing/2014/main" id="{D1AF5CCB-3E4B-44FF-34EB-9A63CE716A2C}"/>
              </a:ext>
            </a:extLst>
          </p:cNvPr>
          <p:cNvSpPr>
            <a:spLocks noGrp="1"/>
          </p:cNvSpPr>
          <p:nvPr>
            <p:ph type="body" idx="1"/>
          </p:nvPr>
        </p:nvSpPr>
        <p:spPr>
          <a:xfrm>
            <a:off x="4997002" y="1597875"/>
            <a:ext cx="3337297" cy="2933775"/>
          </a:xfrm>
        </p:spPr>
        <p:txBody>
          <a:bodyPr/>
          <a:lstStyle/>
          <a:p>
            <a:r>
              <a:rPr lang="en-US" dirty="0"/>
              <a:t>Add a new parameter</a:t>
            </a:r>
          </a:p>
          <a:p>
            <a:r>
              <a:rPr lang="en-US" dirty="0"/>
              <a:t>Go back to notebook parameter and search for the variable </a:t>
            </a:r>
            <a:r>
              <a:rPr lang="en-US" dirty="0" err="1"/>
              <a:t>v_window_end_date</a:t>
            </a:r>
            <a:endParaRPr lang="en-US" dirty="0"/>
          </a:p>
        </p:txBody>
      </p:sp>
      <p:pic>
        <p:nvPicPr>
          <p:cNvPr id="5" name="Picture 4">
            <a:extLst>
              <a:ext uri="{FF2B5EF4-FFF2-40B4-BE49-F238E27FC236}">
                <a16:creationId xmlns:a16="http://schemas.microsoft.com/office/drawing/2014/main" id="{3A329973-1D62-54A4-25A2-97B96BC3E333}"/>
              </a:ext>
            </a:extLst>
          </p:cNvPr>
          <p:cNvPicPr>
            <a:picLocks noChangeAspect="1"/>
          </p:cNvPicPr>
          <p:nvPr/>
        </p:nvPicPr>
        <p:blipFill>
          <a:blip r:embed="rId2"/>
          <a:stretch>
            <a:fillRect/>
          </a:stretch>
        </p:blipFill>
        <p:spPr>
          <a:xfrm>
            <a:off x="0" y="1597875"/>
            <a:ext cx="4905699" cy="2686137"/>
          </a:xfrm>
          <a:prstGeom prst="rect">
            <a:avLst/>
          </a:prstGeom>
        </p:spPr>
      </p:pic>
    </p:spTree>
    <p:extLst>
      <p:ext uri="{BB962C8B-B14F-4D97-AF65-F5344CB8AC3E}">
        <p14:creationId xmlns:p14="http://schemas.microsoft.com/office/powerpoint/2010/main" val="12446820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9C6D7-E40B-448E-5028-D314D5D228FC}"/>
              </a:ext>
            </a:extLst>
          </p:cNvPr>
          <p:cNvSpPr>
            <a:spLocks noGrp="1"/>
          </p:cNvSpPr>
          <p:nvPr>
            <p:ph type="title"/>
          </p:nvPr>
        </p:nvSpPr>
        <p:spPr/>
        <p:txBody>
          <a:bodyPr/>
          <a:lstStyle/>
          <a:p>
            <a:r>
              <a:rPr lang="en-US" dirty="0"/>
              <a:t>Adding the date parameter</a:t>
            </a:r>
          </a:p>
        </p:txBody>
      </p:sp>
      <p:sp>
        <p:nvSpPr>
          <p:cNvPr id="3" name="Text Placeholder 2">
            <a:extLst>
              <a:ext uri="{FF2B5EF4-FFF2-40B4-BE49-F238E27FC236}">
                <a16:creationId xmlns:a16="http://schemas.microsoft.com/office/drawing/2014/main" id="{A1D93E3C-D506-B850-7737-F35270F6E33A}"/>
              </a:ext>
            </a:extLst>
          </p:cNvPr>
          <p:cNvSpPr>
            <a:spLocks noGrp="1"/>
          </p:cNvSpPr>
          <p:nvPr>
            <p:ph type="body" idx="1"/>
          </p:nvPr>
        </p:nvSpPr>
        <p:spPr>
          <a:xfrm>
            <a:off x="4906851" y="1686011"/>
            <a:ext cx="3857221" cy="3149677"/>
          </a:xfrm>
        </p:spPr>
        <p:txBody>
          <a:bodyPr/>
          <a:lstStyle/>
          <a:p>
            <a:r>
              <a:rPr lang="en-US" dirty="0"/>
              <a:t>Go to function -&gt; Date function -&gt; </a:t>
            </a:r>
            <a:r>
              <a:rPr lang="en-US" dirty="0" err="1"/>
              <a:t>formatDateTime</a:t>
            </a:r>
            <a:endParaRPr lang="en-US" dirty="0"/>
          </a:p>
          <a:p>
            <a:r>
              <a:rPr lang="en-US" dirty="0"/>
              <a:t>This process create the error as it has no arguments</a:t>
            </a:r>
          </a:p>
          <a:p>
            <a:r>
              <a:rPr lang="en-US" dirty="0"/>
              <a:t>Now arguments passing is </a:t>
            </a:r>
            <a:r>
              <a:rPr lang="en-US" dirty="0" err="1"/>
              <a:t>v_window_date</a:t>
            </a:r>
            <a:r>
              <a:rPr lang="en-US" dirty="0"/>
              <a:t> and the date format as ‘</a:t>
            </a:r>
            <a:r>
              <a:rPr lang="en-US" dirty="0" err="1"/>
              <a:t>yyyy</a:t>
            </a:r>
            <a:r>
              <a:rPr lang="en-US" dirty="0"/>
              <a:t>-MM-dd’</a:t>
            </a:r>
          </a:p>
          <a:p>
            <a:r>
              <a:rPr lang="en-US" dirty="0"/>
              <a:t>Once all parameters are passed debug the pipeline</a:t>
            </a:r>
          </a:p>
        </p:txBody>
      </p:sp>
      <p:pic>
        <p:nvPicPr>
          <p:cNvPr id="7" name="Picture 6">
            <a:extLst>
              <a:ext uri="{FF2B5EF4-FFF2-40B4-BE49-F238E27FC236}">
                <a16:creationId xmlns:a16="http://schemas.microsoft.com/office/drawing/2014/main" id="{020378C9-883B-F6BC-C629-30C72C7A5206}"/>
              </a:ext>
            </a:extLst>
          </p:cNvPr>
          <p:cNvPicPr>
            <a:picLocks noChangeAspect="1"/>
          </p:cNvPicPr>
          <p:nvPr/>
        </p:nvPicPr>
        <p:blipFill>
          <a:blip r:embed="rId2"/>
          <a:stretch>
            <a:fillRect/>
          </a:stretch>
        </p:blipFill>
        <p:spPr>
          <a:xfrm>
            <a:off x="314094" y="1764485"/>
            <a:ext cx="4400375" cy="2992728"/>
          </a:xfrm>
          <a:prstGeom prst="rect">
            <a:avLst/>
          </a:prstGeom>
        </p:spPr>
      </p:pic>
    </p:spTree>
    <p:extLst>
      <p:ext uri="{BB962C8B-B14F-4D97-AF65-F5344CB8AC3E}">
        <p14:creationId xmlns:p14="http://schemas.microsoft.com/office/powerpoint/2010/main" val="42792508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05734-D3A8-327B-A79A-6F81A657B8AB}"/>
              </a:ext>
            </a:extLst>
          </p:cNvPr>
          <p:cNvSpPr>
            <a:spLocks noGrp="1"/>
          </p:cNvSpPr>
          <p:nvPr>
            <p:ph type="title"/>
          </p:nvPr>
        </p:nvSpPr>
        <p:spPr/>
        <p:txBody>
          <a:bodyPr>
            <a:normAutofit fontScale="90000"/>
          </a:bodyPr>
          <a:lstStyle/>
          <a:p>
            <a:r>
              <a:rPr lang="en-US" dirty="0"/>
              <a:t>More about date format in Azure data factory</a:t>
            </a:r>
          </a:p>
        </p:txBody>
      </p:sp>
      <p:sp>
        <p:nvSpPr>
          <p:cNvPr id="3" name="Text Placeholder 2">
            <a:extLst>
              <a:ext uri="{FF2B5EF4-FFF2-40B4-BE49-F238E27FC236}">
                <a16:creationId xmlns:a16="http://schemas.microsoft.com/office/drawing/2014/main" id="{3E20F690-CFFA-EDB9-2C40-6E3D9B7A6049}"/>
              </a:ext>
            </a:extLst>
          </p:cNvPr>
          <p:cNvSpPr>
            <a:spLocks noGrp="1"/>
          </p:cNvSpPr>
          <p:nvPr>
            <p:ph type="body" idx="1"/>
          </p:nvPr>
        </p:nvSpPr>
        <p:spPr/>
        <p:txBody>
          <a:bodyPr/>
          <a:lstStyle/>
          <a:p>
            <a:r>
              <a:rPr lang="en-US" dirty="0">
                <a:hlinkClick r:id="rId2"/>
              </a:rPr>
              <a:t>Dates &amp; Timestamps In Azure Data Factory: Parsing, Formatting, Converting - Pipeline &amp; Data Flow | ochzhen.com</a:t>
            </a:r>
            <a:endParaRPr lang="en-US" dirty="0"/>
          </a:p>
        </p:txBody>
      </p:sp>
    </p:spTree>
    <p:extLst>
      <p:ext uri="{BB962C8B-B14F-4D97-AF65-F5344CB8AC3E}">
        <p14:creationId xmlns:p14="http://schemas.microsoft.com/office/powerpoint/2010/main" val="38558642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7678C-7FAB-7D10-D4CD-C6453A09A959}"/>
              </a:ext>
            </a:extLst>
          </p:cNvPr>
          <p:cNvSpPr>
            <a:spLocks noGrp="1"/>
          </p:cNvSpPr>
          <p:nvPr>
            <p:ph type="title"/>
          </p:nvPr>
        </p:nvSpPr>
        <p:spPr/>
        <p:txBody>
          <a:bodyPr/>
          <a:lstStyle/>
          <a:p>
            <a:r>
              <a:rPr lang="en-US" dirty="0"/>
              <a:t>debug</a:t>
            </a:r>
          </a:p>
        </p:txBody>
      </p:sp>
      <p:sp>
        <p:nvSpPr>
          <p:cNvPr id="3" name="Text Placeholder 2">
            <a:extLst>
              <a:ext uri="{FF2B5EF4-FFF2-40B4-BE49-F238E27FC236}">
                <a16:creationId xmlns:a16="http://schemas.microsoft.com/office/drawing/2014/main" id="{E0AEA022-4DFC-D57C-5158-F24F1C9A1746}"/>
              </a:ext>
            </a:extLst>
          </p:cNvPr>
          <p:cNvSpPr>
            <a:spLocks noGrp="1"/>
          </p:cNvSpPr>
          <p:nvPr>
            <p:ph type="body" idx="1"/>
          </p:nvPr>
        </p:nvSpPr>
        <p:spPr>
          <a:xfrm>
            <a:off x="5112912" y="1661375"/>
            <a:ext cx="3606085" cy="3140915"/>
          </a:xfrm>
        </p:spPr>
        <p:txBody>
          <a:bodyPr/>
          <a:lstStyle/>
          <a:p>
            <a:r>
              <a:rPr lang="en-US" dirty="0"/>
              <a:t>Click on the debug and pass the appropriate values</a:t>
            </a:r>
          </a:p>
          <a:p>
            <a:r>
              <a:rPr lang="en-US" dirty="0"/>
              <a:t>Once parameters are passed , it may take almost 2-3 min for execution and you may check the process done by clicking on the link.</a:t>
            </a:r>
          </a:p>
          <a:p>
            <a:r>
              <a:rPr lang="en-US" dirty="0"/>
              <a:t>After debug to make changes permanent click on the publish all.</a:t>
            </a:r>
          </a:p>
          <a:p>
            <a:r>
              <a:rPr lang="en-US" dirty="0"/>
              <a:t>Without Publish pipeline will not be saved.</a:t>
            </a:r>
          </a:p>
          <a:p>
            <a:r>
              <a:rPr lang="en-US" dirty="0"/>
              <a:t>Clone the pipeline and do the same process for other files</a:t>
            </a:r>
          </a:p>
        </p:txBody>
      </p:sp>
      <p:pic>
        <p:nvPicPr>
          <p:cNvPr id="5" name="Picture 4">
            <a:extLst>
              <a:ext uri="{FF2B5EF4-FFF2-40B4-BE49-F238E27FC236}">
                <a16:creationId xmlns:a16="http://schemas.microsoft.com/office/drawing/2014/main" id="{CC7D968C-B6CA-E972-F1C2-0D1FD28DE685}"/>
              </a:ext>
            </a:extLst>
          </p:cNvPr>
          <p:cNvPicPr>
            <a:picLocks noChangeAspect="1"/>
          </p:cNvPicPr>
          <p:nvPr/>
        </p:nvPicPr>
        <p:blipFill>
          <a:blip r:embed="rId2"/>
          <a:stretch>
            <a:fillRect/>
          </a:stretch>
        </p:blipFill>
        <p:spPr>
          <a:xfrm>
            <a:off x="279088" y="1719410"/>
            <a:ext cx="4539962" cy="3082880"/>
          </a:xfrm>
          <a:prstGeom prst="rect">
            <a:avLst/>
          </a:prstGeom>
        </p:spPr>
      </p:pic>
    </p:spTree>
    <p:extLst>
      <p:ext uri="{BB962C8B-B14F-4D97-AF65-F5344CB8AC3E}">
        <p14:creationId xmlns:p14="http://schemas.microsoft.com/office/powerpoint/2010/main" val="6944246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E519F-D547-0B0E-2B3B-01E3CC64C37B}"/>
              </a:ext>
            </a:extLst>
          </p:cNvPr>
          <p:cNvSpPr>
            <a:spLocks noGrp="1"/>
          </p:cNvSpPr>
          <p:nvPr>
            <p:ph type="title"/>
          </p:nvPr>
        </p:nvSpPr>
        <p:spPr/>
        <p:txBody>
          <a:bodyPr/>
          <a:lstStyle/>
          <a:p>
            <a:r>
              <a:rPr lang="en-US" dirty="0"/>
              <a:t>Creating more pipelines</a:t>
            </a:r>
          </a:p>
        </p:txBody>
      </p:sp>
      <p:sp>
        <p:nvSpPr>
          <p:cNvPr id="3" name="Text Placeholder 2">
            <a:extLst>
              <a:ext uri="{FF2B5EF4-FFF2-40B4-BE49-F238E27FC236}">
                <a16:creationId xmlns:a16="http://schemas.microsoft.com/office/drawing/2014/main" id="{8D1420FC-1345-6C32-CE07-8FF128297CEB}"/>
              </a:ext>
            </a:extLst>
          </p:cNvPr>
          <p:cNvSpPr>
            <a:spLocks noGrp="1"/>
          </p:cNvSpPr>
          <p:nvPr>
            <p:ph type="body" idx="1"/>
          </p:nvPr>
        </p:nvSpPr>
        <p:spPr>
          <a:xfrm>
            <a:off x="4687909" y="1358721"/>
            <a:ext cx="4262907" cy="3186204"/>
          </a:xfrm>
        </p:spPr>
        <p:txBody>
          <a:bodyPr/>
          <a:lstStyle/>
          <a:p>
            <a:r>
              <a:rPr lang="en-US" dirty="0"/>
              <a:t>Add new pipe and connect if their execution is sequential.</a:t>
            </a:r>
          </a:p>
          <a:p>
            <a:r>
              <a:rPr lang="en-US" dirty="0"/>
              <a:t>For parallel execution check if cluster size allocation is sufficient or not.</a:t>
            </a:r>
          </a:p>
        </p:txBody>
      </p:sp>
      <p:pic>
        <p:nvPicPr>
          <p:cNvPr id="5" name="Picture 4">
            <a:extLst>
              <a:ext uri="{FF2B5EF4-FFF2-40B4-BE49-F238E27FC236}">
                <a16:creationId xmlns:a16="http://schemas.microsoft.com/office/drawing/2014/main" id="{F137AEC4-E230-D5A3-0DB1-E601545755B0}"/>
              </a:ext>
            </a:extLst>
          </p:cNvPr>
          <p:cNvPicPr>
            <a:picLocks noChangeAspect="1"/>
          </p:cNvPicPr>
          <p:nvPr/>
        </p:nvPicPr>
        <p:blipFill>
          <a:blip r:embed="rId2"/>
          <a:stretch>
            <a:fillRect/>
          </a:stretch>
        </p:blipFill>
        <p:spPr>
          <a:xfrm>
            <a:off x="81064" y="1358721"/>
            <a:ext cx="4490936" cy="2785479"/>
          </a:xfrm>
          <a:prstGeom prst="rect">
            <a:avLst/>
          </a:prstGeom>
        </p:spPr>
      </p:pic>
    </p:spTree>
    <p:extLst>
      <p:ext uri="{BB962C8B-B14F-4D97-AF65-F5344CB8AC3E}">
        <p14:creationId xmlns:p14="http://schemas.microsoft.com/office/powerpoint/2010/main" val="34071067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184E7-2DC5-3E37-0A51-6083C60C6A05}"/>
              </a:ext>
            </a:extLst>
          </p:cNvPr>
          <p:cNvSpPr>
            <a:spLocks noGrp="1"/>
          </p:cNvSpPr>
          <p:nvPr>
            <p:ph type="title"/>
          </p:nvPr>
        </p:nvSpPr>
        <p:spPr/>
        <p:txBody>
          <a:bodyPr/>
          <a:lstStyle/>
          <a:p>
            <a:r>
              <a:rPr lang="en-US" dirty="0"/>
              <a:t>Connecting the storage</a:t>
            </a:r>
          </a:p>
        </p:txBody>
      </p:sp>
      <p:sp>
        <p:nvSpPr>
          <p:cNvPr id="3" name="Text Placeholder 2">
            <a:extLst>
              <a:ext uri="{FF2B5EF4-FFF2-40B4-BE49-F238E27FC236}">
                <a16:creationId xmlns:a16="http://schemas.microsoft.com/office/drawing/2014/main" id="{3D49F211-6427-37A5-FD69-10163E26D036}"/>
              </a:ext>
            </a:extLst>
          </p:cNvPr>
          <p:cNvSpPr>
            <a:spLocks noGrp="1"/>
          </p:cNvSpPr>
          <p:nvPr>
            <p:ph type="body" idx="1"/>
          </p:nvPr>
        </p:nvSpPr>
        <p:spPr>
          <a:xfrm>
            <a:off x="5151548" y="1423115"/>
            <a:ext cx="3747753" cy="3482206"/>
          </a:xfrm>
        </p:spPr>
        <p:txBody>
          <a:bodyPr/>
          <a:lstStyle/>
          <a:p>
            <a:r>
              <a:rPr lang="en-US" dirty="0"/>
              <a:t>Add the get metadata.</a:t>
            </a:r>
          </a:p>
          <a:p>
            <a:r>
              <a:rPr lang="en-US" dirty="0"/>
              <a:t>Go to settings</a:t>
            </a:r>
          </a:p>
          <a:p>
            <a:r>
              <a:rPr lang="en-US" dirty="0"/>
              <a:t>Click on the new and add the respective parameters</a:t>
            </a:r>
          </a:p>
          <a:p>
            <a:r>
              <a:rPr lang="en-US" dirty="0"/>
              <a:t>Select the ADLS gen2 as our data is available there.</a:t>
            </a:r>
          </a:p>
          <a:p>
            <a:r>
              <a:rPr lang="en-US" dirty="0"/>
              <a:t>Select the proper file but currently there are various files format.</a:t>
            </a:r>
          </a:p>
          <a:p>
            <a:r>
              <a:rPr lang="en-US" dirty="0"/>
              <a:t>For a first example, select </a:t>
            </a:r>
            <a:r>
              <a:rPr lang="en-US" dirty="0" err="1"/>
              <a:t>json</a:t>
            </a:r>
            <a:r>
              <a:rPr lang="en-US" dirty="0"/>
              <a:t> files.</a:t>
            </a:r>
          </a:p>
          <a:p>
            <a:r>
              <a:rPr lang="en-US" dirty="0"/>
              <a:t> </a:t>
            </a:r>
          </a:p>
          <a:p>
            <a:endParaRPr lang="en-US" dirty="0"/>
          </a:p>
        </p:txBody>
      </p:sp>
      <p:pic>
        <p:nvPicPr>
          <p:cNvPr id="9" name="Picture 8">
            <a:extLst>
              <a:ext uri="{FF2B5EF4-FFF2-40B4-BE49-F238E27FC236}">
                <a16:creationId xmlns:a16="http://schemas.microsoft.com/office/drawing/2014/main" id="{76AD974F-492F-390C-0009-330A1ADDC938}"/>
              </a:ext>
            </a:extLst>
          </p:cNvPr>
          <p:cNvPicPr>
            <a:picLocks noChangeAspect="1"/>
          </p:cNvPicPr>
          <p:nvPr/>
        </p:nvPicPr>
        <p:blipFill>
          <a:blip r:embed="rId2"/>
          <a:stretch>
            <a:fillRect/>
          </a:stretch>
        </p:blipFill>
        <p:spPr>
          <a:xfrm>
            <a:off x="196325" y="1423115"/>
            <a:ext cx="4955223" cy="2857500"/>
          </a:xfrm>
          <a:prstGeom prst="rect">
            <a:avLst/>
          </a:prstGeom>
        </p:spPr>
      </p:pic>
    </p:spTree>
    <p:extLst>
      <p:ext uri="{BB962C8B-B14F-4D97-AF65-F5344CB8AC3E}">
        <p14:creationId xmlns:p14="http://schemas.microsoft.com/office/powerpoint/2010/main" val="9206806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ECED6-E847-CE04-8A5C-C7AAC8C922A4}"/>
              </a:ext>
            </a:extLst>
          </p:cNvPr>
          <p:cNvSpPr>
            <a:spLocks noGrp="1"/>
          </p:cNvSpPr>
          <p:nvPr>
            <p:ph type="title"/>
          </p:nvPr>
        </p:nvSpPr>
        <p:spPr/>
        <p:txBody>
          <a:bodyPr/>
          <a:lstStyle/>
          <a:p>
            <a:r>
              <a:rPr lang="en-US" dirty="0"/>
              <a:t>Connecting the storage</a:t>
            </a:r>
          </a:p>
        </p:txBody>
      </p:sp>
      <p:sp>
        <p:nvSpPr>
          <p:cNvPr id="3" name="Text Placeholder 2">
            <a:extLst>
              <a:ext uri="{FF2B5EF4-FFF2-40B4-BE49-F238E27FC236}">
                <a16:creationId xmlns:a16="http://schemas.microsoft.com/office/drawing/2014/main" id="{DD641BF5-F497-CD5B-CC55-44E2A45262B8}"/>
              </a:ext>
            </a:extLst>
          </p:cNvPr>
          <p:cNvSpPr>
            <a:spLocks noGrp="1"/>
          </p:cNvSpPr>
          <p:nvPr>
            <p:ph type="body" idx="1"/>
          </p:nvPr>
        </p:nvSpPr>
        <p:spPr>
          <a:xfrm>
            <a:off x="5344731" y="1435994"/>
            <a:ext cx="3400023" cy="3095656"/>
          </a:xfrm>
        </p:spPr>
        <p:txBody>
          <a:bodyPr/>
          <a:lstStyle/>
          <a:p>
            <a:r>
              <a:rPr lang="en-US" dirty="0"/>
              <a:t>Create the new link service.</a:t>
            </a:r>
          </a:p>
          <a:p>
            <a:r>
              <a:rPr lang="en-US" dirty="0"/>
              <a:t>And pass the proper storage acct name.</a:t>
            </a:r>
          </a:p>
          <a:p>
            <a:r>
              <a:rPr lang="en-US" dirty="0"/>
              <a:t>Test the connection and create.</a:t>
            </a:r>
          </a:p>
          <a:p>
            <a:endParaRPr lang="en-US" dirty="0"/>
          </a:p>
          <a:p>
            <a:endParaRPr lang="en-US" dirty="0"/>
          </a:p>
        </p:txBody>
      </p:sp>
      <p:pic>
        <p:nvPicPr>
          <p:cNvPr id="9" name="Picture 8">
            <a:extLst>
              <a:ext uri="{FF2B5EF4-FFF2-40B4-BE49-F238E27FC236}">
                <a16:creationId xmlns:a16="http://schemas.microsoft.com/office/drawing/2014/main" id="{F7545096-45DC-EED5-EFED-2C8521A3C53D}"/>
              </a:ext>
            </a:extLst>
          </p:cNvPr>
          <p:cNvPicPr>
            <a:picLocks noChangeAspect="1"/>
          </p:cNvPicPr>
          <p:nvPr/>
        </p:nvPicPr>
        <p:blipFill>
          <a:blip r:embed="rId2"/>
          <a:stretch>
            <a:fillRect/>
          </a:stretch>
        </p:blipFill>
        <p:spPr>
          <a:xfrm>
            <a:off x="291215" y="1435994"/>
            <a:ext cx="4965674" cy="3385534"/>
          </a:xfrm>
          <a:prstGeom prst="rect">
            <a:avLst/>
          </a:prstGeom>
        </p:spPr>
      </p:pic>
    </p:spTree>
    <p:extLst>
      <p:ext uri="{BB962C8B-B14F-4D97-AF65-F5344CB8AC3E}">
        <p14:creationId xmlns:p14="http://schemas.microsoft.com/office/powerpoint/2010/main" val="41481910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6E2B9-5778-6F22-70FD-73DE3A2BA39F}"/>
              </a:ext>
            </a:extLst>
          </p:cNvPr>
          <p:cNvSpPr>
            <a:spLocks noGrp="1"/>
          </p:cNvSpPr>
          <p:nvPr>
            <p:ph type="title"/>
          </p:nvPr>
        </p:nvSpPr>
        <p:spPr/>
        <p:txBody>
          <a:bodyPr>
            <a:normAutofit fontScale="90000"/>
          </a:bodyPr>
          <a:lstStyle/>
          <a:p>
            <a:r>
              <a:rPr lang="en-US" dirty="0"/>
              <a:t>Setting the parameter for data connection</a:t>
            </a:r>
          </a:p>
        </p:txBody>
      </p:sp>
      <p:sp>
        <p:nvSpPr>
          <p:cNvPr id="3" name="Text Placeholder 2">
            <a:extLst>
              <a:ext uri="{FF2B5EF4-FFF2-40B4-BE49-F238E27FC236}">
                <a16:creationId xmlns:a16="http://schemas.microsoft.com/office/drawing/2014/main" id="{A68A4096-F6EE-DD7B-83A0-D5CD98E3B62C}"/>
              </a:ext>
            </a:extLst>
          </p:cNvPr>
          <p:cNvSpPr>
            <a:spLocks noGrp="1"/>
          </p:cNvSpPr>
          <p:nvPr>
            <p:ph type="body" idx="1"/>
          </p:nvPr>
        </p:nvSpPr>
        <p:spPr>
          <a:xfrm>
            <a:off x="5280338" y="1990050"/>
            <a:ext cx="3053962" cy="2541600"/>
          </a:xfrm>
        </p:spPr>
        <p:txBody>
          <a:bodyPr/>
          <a:lstStyle/>
          <a:p>
            <a:endParaRPr lang="en-US" dirty="0"/>
          </a:p>
        </p:txBody>
      </p:sp>
      <p:pic>
        <p:nvPicPr>
          <p:cNvPr id="5" name="Picture 4">
            <a:extLst>
              <a:ext uri="{FF2B5EF4-FFF2-40B4-BE49-F238E27FC236}">
                <a16:creationId xmlns:a16="http://schemas.microsoft.com/office/drawing/2014/main" id="{FBD2822F-7B40-6AB9-E111-87020C52CD23}"/>
              </a:ext>
            </a:extLst>
          </p:cNvPr>
          <p:cNvPicPr>
            <a:picLocks noChangeAspect="1"/>
          </p:cNvPicPr>
          <p:nvPr/>
        </p:nvPicPr>
        <p:blipFill>
          <a:blip r:embed="rId2"/>
          <a:stretch>
            <a:fillRect/>
          </a:stretch>
        </p:blipFill>
        <p:spPr>
          <a:xfrm>
            <a:off x="120015" y="1990050"/>
            <a:ext cx="4909186" cy="2835858"/>
          </a:xfrm>
          <a:prstGeom prst="rect">
            <a:avLst/>
          </a:prstGeom>
        </p:spPr>
      </p:pic>
    </p:spTree>
    <p:extLst>
      <p:ext uri="{BB962C8B-B14F-4D97-AF65-F5344CB8AC3E}">
        <p14:creationId xmlns:p14="http://schemas.microsoft.com/office/powerpoint/2010/main" val="41570453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EF84B-0EF9-7D18-1518-DB1155E47ACB}"/>
              </a:ext>
            </a:extLst>
          </p:cNvPr>
          <p:cNvSpPr>
            <a:spLocks noGrp="1"/>
          </p:cNvSpPr>
          <p:nvPr>
            <p:ph type="title"/>
          </p:nvPr>
        </p:nvSpPr>
        <p:spPr/>
        <p:txBody>
          <a:bodyPr/>
          <a:lstStyle/>
          <a:p>
            <a:r>
              <a:rPr lang="en-US" dirty="0"/>
              <a:t>Connect the Storage</a:t>
            </a:r>
          </a:p>
        </p:txBody>
      </p:sp>
      <p:sp>
        <p:nvSpPr>
          <p:cNvPr id="3" name="Text Placeholder 2">
            <a:extLst>
              <a:ext uri="{FF2B5EF4-FFF2-40B4-BE49-F238E27FC236}">
                <a16:creationId xmlns:a16="http://schemas.microsoft.com/office/drawing/2014/main" id="{73227456-1703-2AD1-59B2-06ED14998CF2}"/>
              </a:ext>
            </a:extLst>
          </p:cNvPr>
          <p:cNvSpPr>
            <a:spLocks noGrp="1"/>
          </p:cNvSpPr>
          <p:nvPr>
            <p:ph type="body" idx="1"/>
          </p:nvPr>
        </p:nvSpPr>
        <p:spPr>
          <a:xfrm>
            <a:off x="5434884" y="1249251"/>
            <a:ext cx="3445099" cy="3702676"/>
          </a:xfrm>
        </p:spPr>
        <p:txBody>
          <a:bodyPr/>
          <a:lstStyle/>
          <a:p>
            <a:r>
              <a:rPr lang="en-US" dirty="0"/>
              <a:t>Pass the proper folder name.</a:t>
            </a:r>
          </a:p>
          <a:p>
            <a:r>
              <a:rPr lang="en-US" dirty="0"/>
              <a:t>So inside the raw we are having multiple folders and these can be dynamic.</a:t>
            </a:r>
          </a:p>
          <a:p>
            <a:r>
              <a:rPr lang="en-US" dirty="0"/>
              <a:t>Hence we should not hard code the folder name.</a:t>
            </a:r>
          </a:p>
          <a:p>
            <a:r>
              <a:rPr lang="en-US" dirty="0"/>
              <a:t>Now browse the folder raw and to add dynamic folder name select the Open this dataset from advance option. </a:t>
            </a:r>
          </a:p>
          <a:p>
            <a:r>
              <a:rPr lang="en-US" dirty="0"/>
              <a:t>From directory click on add dynamic content</a:t>
            </a:r>
          </a:p>
          <a:p>
            <a:r>
              <a:rPr lang="en-US" dirty="0"/>
              <a:t>Here date parameter need to be added.</a:t>
            </a:r>
          </a:p>
          <a:p>
            <a:endParaRPr lang="en-US" dirty="0"/>
          </a:p>
        </p:txBody>
      </p:sp>
      <p:pic>
        <p:nvPicPr>
          <p:cNvPr id="5" name="Picture 4">
            <a:extLst>
              <a:ext uri="{FF2B5EF4-FFF2-40B4-BE49-F238E27FC236}">
                <a16:creationId xmlns:a16="http://schemas.microsoft.com/office/drawing/2014/main" id="{B542A8E1-EEC2-5C5E-B7B1-47D11099393A}"/>
              </a:ext>
            </a:extLst>
          </p:cNvPr>
          <p:cNvPicPr>
            <a:picLocks noChangeAspect="1"/>
          </p:cNvPicPr>
          <p:nvPr/>
        </p:nvPicPr>
        <p:blipFill>
          <a:blip r:embed="rId2"/>
          <a:stretch>
            <a:fillRect/>
          </a:stretch>
        </p:blipFill>
        <p:spPr>
          <a:xfrm>
            <a:off x="70834" y="1667814"/>
            <a:ext cx="5145050" cy="2796825"/>
          </a:xfrm>
          <a:prstGeom prst="rect">
            <a:avLst/>
          </a:prstGeom>
        </p:spPr>
      </p:pic>
    </p:spTree>
    <p:extLst>
      <p:ext uri="{BB962C8B-B14F-4D97-AF65-F5344CB8AC3E}">
        <p14:creationId xmlns:p14="http://schemas.microsoft.com/office/powerpoint/2010/main" val="27143170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71428-7CD7-D9A7-E895-9BE22995E33B}"/>
              </a:ext>
            </a:extLst>
          </p:cNvPr>
          <p:cNvSpPr>
            <a:spLocks noGrp="1"/>
          </p:cNvSpPr>
          <p:nvPr>
            <p:ph type="title"/>
          </p:nvPr>
        </p:nvSpPr>
        <p:spPr/>
        <p:txBody>
          <a:bodyPr/>
          <a:lstStyle/>
          <a:p>
            <a:r>
              <a:rPr lang="en-US" dirty="0"/>
              <a:t>Connect the storage account</a:t>
            </a:r>
          </a:p>
        </p:txBody>
      </p:sp>
      <p:sp>
        <p:nvSpPr>
          <p:cNvPr id="3" name="Text Placeholder 2">
            <a:extLst>
              <a:ext uri="{FF2B5EF4-FFF2-40B4-BE49-F238E27FC236}">
                <a16:creationId xmlns:a16="http://schemas.microsoft.com/office/drawing/2014/main" id="{2BA76618-854B-2CF4-69EB-B03D520465A0}"/>
              </a:ext>
            </a:extLst>
          </p:cNvPr>
          <p:cNvSpPr>
            <a:spLocks noGrp="1"/>
          </p:cNvSpPr>
          <p:nvPr>
            <p:ph type="body" idx="1"/>
          </p:nvPr>
        </p:nvSpPr>
        <p:spPr>
          <a:xfrm>
            <a:off x="5505718" y="1597875"/>
            <a:ext cx="3393582" cy="3257459"/>
          </a:xfrm>
        </p:spPr>
        <p:txBody>
          <a:bodyPr/>
          <a:lstStyle/>
          <a:p>
            <a:r>
              <a:rPr lang="en-US" dirty="0"/>
              <a:t>Click on the Add dynamic content</a:t>
            </a:r>
          </a:p>
          <a:p>
            <a:r>
              <a:rPr lang="en-US" dirty="0"/>
              <a:t>Go to function as input parameter is in date/ timestamp format</a:t>
            </a:r>
          </a:p>
          <a:p>
            <a:r>
              <a:rPr lang="en-US" dirty="0"/>
              <a:t>Select </a:t>
            </a:r>
            <a:r>
              <a:rPr lang="en-US" dirty="0" err="1"/>
              <a:t>formatDateTime</a:t>
            </a:r>
            <a:r>
              <a:rPr lang="en-US" dirty="0"/>
              <a:t>() and pass the parameter with date format.</a:t>
            </a:r>
          </a:p>
          <a:p>
            <a:r>
              <a:rPr lang="en-US" dirty="0"/>
              <a:t> </a:t>
            </a:r>
          </a:p>
        </p:txBody>
      </p:sp>
      <p:pic>
        <p:nvPicPr>
          <p:cNvPr id="5" name="Picture 4">
            <a:extLst>
              <a:ext uri="{FF2B5EF4-FFF2-40B4-BE49-F238E27FC236}">
                <a16:creationId xmlns:a16="http://schemas.microsoft.com/office/drawing/2014/main" id="{1B5FF919-1B96-79B1-2E68-4BB0CA4F96A8}"/>
              </a:ext>
            </a:extLst>
          </p:cNvPr>
          <p:cNvPicPr>
            <a:picLocks noChangeAspect="1"/>
          </p:cNvPicPr>
          <p:nvPr/>
        </p:nvPicPr>
        <p:blipFill>
          <a:blip r:embed="rId2"/>
          <a:stretch>
            <a:fillRect/>
          </a:stretch>
        </p:blipFill>
        <p:spPr>
          <a:xfrm>
            <a:off x="244700" y="1597875"/>
            <a:ext cx="4968637" cy="3340458"/>
          </a:xfrm>
          <a:prstGeom prst="rect">
            <a:avLst/>
          </a:prstGeom>
        </p:spPr>
      </p:pic>
    </p:spTree>
    <p:extLst>
      <p:ext uri="{BB962C8B-B14F-4D97-AF65-F5344CB8AC3E}">
        <p14:creationId xmlns:p14="http://schemas.microsoft.com/office/powerpoint/2010/main" val="39437134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A88C60A-232B-1CE6-157F-132EEAD2401B}"/>
              </a:ext>
            </a:extLst>
          </p:cNvPr>
          <p:cNvPicPr>
            <a:picLocks noChangeAspect="1"/>
          </p:cNvPicPr>
          <p:nvPr/>
        </p:nvPicPr>
        <p:blipFill>
          <a:blip r:embed="rId2"/>
          <a:stretch>
            <a:fillRect/>
          </a:stretch>
        </p:blipFill>
        <p:spPr>
          <a:xfrm>
            <a:off x="1410987" y="299177"/>
            <a:ext cx="6715582" cy="4539026"/>
          </a:xfrm>
          <a:prstGeom prst="rect">
            <a:avLst/>
          </a:prstGeom>
        </p:spPr>
      </p:pic>
    </p:spTree>
    <p:extLst>
      <p:ext uri="{BB962C8B-B14F-4D97-AF65-F5344CB8AC3E}">
        <p14:creationId xmlns:p14="http://schemas.microsoft.com/office/powerpoint/2010/main" val="9224155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7F7AD-E368-BA91-B161-C77E30FA3B8D}"/>
              </a:ext>
            </a:extLst>
          </p:cNvPr>
          <p:cNvSpPr>
            <a:spLocks noGrp="1"/>
          </p:cNvSpPr>
          <p:nvPr>
            <p:ph type="title"/>
          </p:nvPr>
        </p:nvSpPr>
        <p:spPr/>
        <p:txBody>
          <a:bodyPr/>
          <a:lstStyle/>
          <a:p>
            <a:r>
              <a:rPr lang="en-US" dirty="0"/>
              <a:t>Go back to pipeline</a:t>
            </a:r>
          </a:p>
        </p:txBody>
      </p:sp>
      <p:pic>
        <p:nvPicPr>
          <p:cNvPr id="7" name="Picture 6">
            <a:extLst>
              <a:ext uri="{FF2B5EF4-FFF2-40B4-BE49-F238E27FC236}">
                <a16:creationId xmlns:a16="http://schemas.microsoft.com/office/drawing/2014/main" id="{1F98F00F-F67E-5AA1-CF07-07A0B30C373B}"/>
              </a:ext>
            </a:extLst>
          </p:cNvPr>
          <p:cNvPicPr>
            <a:picLocks noChangeAspect="1"/>
          </p:cNvPicPr>
          <p:nvPr/>
        </p:nvPicPr>
        <p:blipFill>
          <a:blip r:embed="rId2"/>
          <a:stretch>
            <a:fillRect/>
          </a:stretch>
        </p:blipFill>
        <p:spPr>
          <a:xfrm>
            <a:off x="1080461" y="1788637"/>
            <a:ext cx="5950039" cy="3103253"/>
          </a:xfrm>
          <a:prstGeom prst="rect">
            <a:avLst/>
          </a:prstGeom>
        </p:spPr>
      </p:pic>
    </p:spTree>
    <p:extLst>
      <p:ext uri="{BB962C8B-B14F-4D97-AF65-F5344CB8AC3E}">
        <p14:creationId xmlns:p14="http://schemas.microsoft.com/office/powerpoint/2010/main" val="22355326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53B2C-B9C7-1183-C334-7DF277D1C4EE}"/>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6951BE59-103A-350E-9367-8463D75FCE42}"/>
              </a:ext>
            </a:extLst>
          </p:cNvPr>
          <p:cNvPicPr>
            <a:picLocks noChangeAspect="1"/>
          </p:cNvPicPr>
          <p:nvPr/>
        </p:nvPicPr>
        <p:blipFill>
          <a:blip r:embed="rId2"/>
          <a:stretch>
            <a:fillRect/>
          </a:stretch>
        </p:blipFill>
        <p:spPr>
          <a:xfrm>
            <a:off x="1390919" y="1696767"/>
            <a:ext cx="6201177" cy="3305959"/>
          </a:xfrm>
          <a:prstGeom prst="rect">
            <a:avLst/>
          </a:prstGeom>
        </p:spPr>
      </p:pic>
    </p:spTree>
    <p:extLst>
      <p:ext uri="{BB962C8B-B14F-4D97-AF65-F5344CB8AC3E}">
        <p14:creationId xmlns:p14="http://schemas.microsoft.com/office/powerpoint/2010/main" val="3582173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D97EB-101F-44DA-89EE-788BE886BB7F}"/>
              </a:ext>
            </a:extLst>
          </p:cNvPr>
          <p:cNvSpPr>
            <a:spLocks noGrp="1"/>
          </p:cNvSpPr>
          <p:nvPr>
            <p:ph type="title"/>
          </p:nvPr>
        </p:nvSpPr>
        <p:spPr/>
        <p:txBody>
          <a:bodyPr/>
          <a:lstStyle/>
          <a:p>
            <a:r>
              <a:rPr lang="en-US" dirty="0"/>
              <a:t>Field list</a:t>
            </a:r>
          </a:p>
        </p:txBody>
      </p:sp>
      <p:sp>
        <p:nvSpPr>
          <p:cNvPr id="3" name="Text Placeholder 2">
            <a:extLst>
              <a:ext uri="{FF2B5EF4-FFF2-40B4-BE49-F238E27FC236}">
                <a16:creationId xmlns:a16="http://schemas.microsoft.com/office/drawing/2014/main" id="{EE2C40A7-8B52-6884-7965-66B952617DA2}"/>
              </a:ext>
            </a:extLst>
          </p:cNvPr>
          <p:cNvSpPr>
            <a:spLocks noGrp="1"/>
          </p:cNvSpPr>
          <p:nvPr>
            <p:ph type="body" idx="1"/>
          </p:nvPr>
        </p:nvSpPr>
        <p:spPr>
          <a:xfrm>
            <a:off x="4848895" y="1641953"/>
            <a:ext cx="4050405" cy="3129670"/>
          </a:xfrm>
        </p:spPr>
        <p:txBody>
          <a:bodyPr/>
          <a:lstStyle/>
          <a:p>
            <a:r>
              <a:rPr lang="en-US" dirty="0"/>
              <a:t>For the field list select Exists from the drop down options.</a:t>
            </a:r>
          </a:p>
          <a:p>
            <a:r>
              <a:rPr lang="en-US" dirty="0"/>
              <a:t>Drop down options are:</a:t>
            </a:r>
          </a:p>
          <a:p>
            <a:pPr lvl="1"/>
            <a:r>
              <a:rPr lang="en-US" dirty="0"/>
              <a:t>Child item</a:t>
            </a:r>
          </a:p>
          <a:p>
            <a:pPr lvl="1"/>
            <a:r>
              <a:rPr lang="en-US" dirty="0"/>
              <a:t>Exists</a:t>
            </a:r>
          </a:p>
          <a:p>
            <a:pPr lvl="1"/>
            <a:r>
              <a:rPr lang="en-US" dirty="0"/>
              <a:t>Item name</a:t>
            </a:r>
          </a:p>
          <a:p>
            <a:pPr lvl="1"/>
            <a:r>
              <a:rPr lang="en-US" dirty="0"/>
              <a:t>Item type </a:t>
            </a:r>
          </a:p>
          <a:p>
            <a:pPr lvl="1"/>
            <a:r>
              <a:rPr lang="en-US" dirty="0"/>
              <a:t>Last modified</a:t>
            </a:r>
          </a:p>
          <a:p>
            <a:pPr lvl="1"/>
            <a:endParaRPr lang="en-US" dirty="0"/>
          </a:p>
        </p:txBody>
      </p:sp>
      <p:pic>
        <p:nvPicPr>
          <p:cNvPr id="5" name="Picture 4">
            <a:extLst>
              <a:ext uri="{FF2B5EF4-FFF2-40B4-BE49-F238E27FC236}">
                <a16:creationId xmlns:a16="http://schemas.microsoft.com/office/drawing/2014/main" id="{9F0B280C-7FAD-B832-6BC3-7BD1B77EF895}"/>
              </a:ext>
            </a:extLst>
          </p:cNvPr>
          <p:cNvPicPr>
            <a:picLocks noChangeAspect="1"/>
          </p:cNvPicPr>
          <p:nvPr/>
        </p:nvPicPr>
        <p:blipFill>
          <a:blip r:embed="rId2"/>
          <a:stretch>
            <a:fillRect/>
          </a:stretch>
        </p:blipFill>
        <p:spPr>
          <a:xfrm>
            <a:off x="369881" y="1655228"/>
            <a:ext cx="3839253" cy="2889697"/>
          </a:xfrm>
          <a:prstGeom prst="rect">
            <a:avLst/>
          </a:prstGeom>
        </p:spPr>
      </p:pic>
    </p:spTree>
    <p:extLst>
      <p:ext uri="{BB962C8B-B14F-4D97-AF65-F5344CB8AC3E}">
        <p14:creationId xmlns:p14="http://schemas.microsoft.com/office/powerpoint/2010/main" val="41746471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0CFFB-4419-2B4E-2C35-683F54271A39}"/>
              </a:ext>
            </a:extLst>
          </p:cNvPr>
          <p:cNvSpPr>
            <a:spLocks noGrp="1"/>
          </p:cNvSpPr>
          <p:nvPr>
            <p:ph type="title"/>
          </p:nvPr>
        </p:nvSpPr>
        <p:spPr/>
        <p:txBody>
          <a:bodyPr/>
          <a:lstStyle/>
          <a:p>
            <a:r>
              <a:rPr lang="en-US" dirty="0"/>
              <a:t>IF condition</a:t>
            </a:r>
          </a:p>
        </p:txBody>
      </p:sp>
      <p:sp>
        <p:nvSpPr>
          <p:cNvPr id="3" name="Text Placeholder 2">
            <a:extLst>
              <a:ext uri="{FF2B5EF4-FFF2-40B4-BE49-F238E27FC236}">
                <a16:creationId xmlns:a16="http://schemas.microsoft.com/office/drawing/2014/main" id="{18B5F939-7386-F721-AED6-73A754A5B089}"/>
              </a:ext>
            </a:extLst>
          </p:cNvPr>
          <p:cNvSpPr>
            <a:spLocks noGrp="1"/>
          </p:cNvSpPr>
          <p:nvPr>
            <p:ph type="body" idx="1"/>
          </p:nvPr>
        </p:nvSpPr>
        <p:spPr>
          <a:xfrm>
            <a:off x="5164428" y="1990050"/>
            <a:ext cx="3169872" cy="2541600"/>
          </a:xfrm>
        </p:spPr>
        <p:txBody>
          <a:bodyPr/>
          <a:lstStyle/>
          <a:p>
            <a:r>
              <a:rPr lang="en-US" dirty="0"/>
              <a:t>To check if the data is really exists or not add new activity</a:t>
            </a:r>
          </a:p>
        </p:txBody>
      </p:sp>
      <p:pic>
        <p:nvPicPr>
          <p:cNvPr id="5" name="Picture 4">
            <a:extLst>
              <a:ext uri="{FF2B5EF4-FFF2-40B4-BE49-F238E27FC236}">
                <a16:creationId xmlns:a16="http://schemas.microsoft.com/office/drawing/2014/main" id="{DB14D94C-F66C-1090-154D-7A6E03DEA255}"/>
              </a:ext>
            </a:extLst>
          </p:cNvPr>
          <p:cNvPicPr>
            <a:picLocks noChangeAspect="1"/>
          </p:cNvPicPr>
          <p:nvPr/>
        </p:nvPicPr>
        <p:blipFill>
          <a:blip r:embed="rId2"/>
          <a:stretch>
            <a:fillRect/>
          </a:stretch>
        </p:blipFill>
        <p:spPr>
          <a:xfrm>
            <a:off x="269976" y="1500653"/>
            <a:ext cx="4943462" cy="3153450"/>
          </a:xfrm>
          <a:prstGeom prst="rect">
            <a:avLst/>
          </a:prstGeom>
        </p:spPr>
      </p:pic>
    </p:spTree>
    <p:extLst>
      <p:ext uri="{BB962C8B-B14F-4D97-AF65-F5344CB8AC3E}">
        <p14:creationId xmlns:p14="http://schemas.microsoft.com/office/powerpoint/2010/main" val="21499628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FEDA3-BD1D-9DCD-069C-C3D2D8A92E51}"/>
              </a:ext>
            </a:extLst>
          </p:cNvPr>
          <p:cNvSpPr>
            <a:spLocks noGrp="1"/>
          </p:cNvSpPr>
          <p:nvPr>
            <p:ph type="title"/>
          </p:nvPr>
        </p:nvSpPr>
        <p:spPr/>
        <p:txBody>
          <a:bodyPr/>
          <a:lstStyle/>
          <a:p>
            <a:r>
              <a:rPr lang="en-US" dirty="0"/>
              <a:t>IF condition</a:t>
            </a:r>
          </a:p>
        </p:txBody>
      </p:sp>
      <p:sp>
        <p:nvSpPr>
          <p:cNvPr id="3" name="Text Placeholder 2">
            <a:extLst>
              <a:ext uri="{FF2B5EF4-FFF2-40B4-BE49-F238E27FC236}">
                <a16:creationId xmlns:a16="http://schemas.microsoft.com/office/drawing/2014/main" id="{775AD1FE-5C7F-B88C-1479-833BC4201924}"/>
              </a:ext>
            </a:extLst>
          </p:cNvPr>
          <p:cNvSpPr>
            <a:spLocks noGrp="1"/>
          </p:cNvSpPr>
          <p:nvPr>
            <p:ph type="body" idx="1"/>
          </p:nvPr>
        </p:nvSpPr>
        <p:spPr>
          <a:xfrm>
            <a:off x="5306096" y="1435993"/>
            <a:ext cx="3728434" cy="3400023"/>
          </a:xfrm>
        </p:spPr>
        <p:txBody>
          <a:bodyPr/>
          <a:lstStyle/>
          <a:p>
            <a:r>
              <a:rPr lang="en-US" dirty="0"/>
              <a:t>Connect the data</a:t>
            </a:r>
          </a:p>
          <a:p>
            <a:r>
              <a:rPr lang="en-US" dirty="0"/>
              <a:t>Activities return either True or False</a:t>
            </a:r>
          </a:p>
          <a:p>
            <a:r>
              <a:rPr lang="en-US" dirty="0"/>
              <a:t>Next slide will add the dynamic values for expression.</a:t>
            </a:r>
          </a:p>
          <a:p>
            <a:r>
              <a:rPr lang="en-US" dirty="0"/>
              <a:t>Select  Activity Outputs -&gt; </a:t>
            </a:r>
            <a:r>
              <a:rPr lang="en-US" dirty="0" err="1"/>
              <a:t>connect_data</a:t>
            </a:r>
            <a:r>
              <a:rPr lang="en-US" dirty="0"/>
              <a:t> exists </a:t>
            </a:r>
          </a:p>
          <a:p>
            <a:endParaRPr lang="en-US" dirty="0"/>
          </a:p>
          <a:p>
            <a:endParaRPr lang="en-US" dirty="0"/>
          </a:p>
        </p:txBody>
      </p:sp>
      <p:pic>
        <p:nvPicPr>
          <p:cNvPr id="7" name="Picture 6">
            <a:extLst>
              <a:ext uri="{FF2B5EF4-FFF2-40B4-BE49-F238E27FC236}">
                <a16:creationId xmlns:a16="http://schemas.microsoft.com/office/drawing/2014/main" id="{8DAEAB70-5819-BB2A-859D-22DB9F90A059}"/>
              </a:ext>
            </a:extLst>
          </p:cNvPr>
          <p:cNvPicPr>
            <a:picLocks noChangeAspect="1"/>
          </p:cNvPicPr>
          <p:nvPr/>
        </p:nvPicPr>
        <p:blipFill>
          <a:blip r:embed="rId2"/>
          <a:stretch>
            <a:fillRect/>
          </a:stretch>
        </p:blipFill>
        <p:spPr>
          <a:xfrm>
            <a:off x="431757" y="1435994"/>
            <a:ext cx="4506432" cy="3495004"/>
          </a:xfrm>
          <a:prstGeom prst="rect">
            <a:avLst/>
          </a:prstGeom>
        </p:spPr>
      </p:pic>
    </p:spTree>
    <p:extLst>
      <p:ext uri="{BB962C8B-B14F-4D97-AF65-F5344CB8AC3E}">
        <p14:creationId xmlns:p14="http://schemas.microsoft.com/office/powerpoint/2010/main" val="33620228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8EA7D-81D2-080A-91D0-104AFEBA5895}"/>
              </a:ext>
            </a:extLst>
          </p:cNvPr>
          <p:cNvSpPr>
            <a:spLocks noGrp="1"/>
          </p:cNvSpPr>
          <p:nvPr>
            <p:ph type="title"/>
          </p:nvPr>
        </p:nvSpPr>
        <p:spPr/>
        <p:txBody>
          <a:bodyPr/>
          <a:lstStyle/>
          <a:p>
            <a:r>
              <a:rPr lang="en-US" dirty="0"/>
              <a:t>Check is folder exists</a:t>
            </a:r>
          </a:p>
        </p:txBody>
      </p:sp>
      <p:sp>
        <p:nvSpPr>
          <p:cNvPr id="3" name="Text Placeholder 2">
            <a:extLst>
              <a:ext uri="{FF2B5EF4-FFF2-40B4-BE49-F238E27FC236}">
                <a16:creationId xmlns:a16="http://schemas.microsoft.com/office/drawing/2014/main" id="{3A0C51A7-BD2D-2CAB-B993-0C5F3A15B007}"/>
              </a:ext>
            </a:extLst>
          </p:cNvPr>
          <p:cNvSpPr>
            <a:spLocks noGrp="1"/>
          </p:cNvSpPr>
          <p:nvPr>
            <p:ph type="body" idx="1"/>
          </p:nvPr>
        </p:nvSpPr>
        <p:spPr>
          <a:xfrm>
            <a:off x="5132231" y="1719594"/>
            <a:ext cx="3612524" cy="3153450"/>
          </a:xfrm>
        </p:spPr>
        <p:txBody>
          <a:bodyPr/>
          <a:lstStyle/>
          <a:p>
            <a:r>
              <a:rPr lang="en-US" dirty="0"/>
              <a:t>Once the connection check then define steps for True and False</a:t>
            </a:r>
          </a:p>
          <a:p>
            <a:endParaRPr lang="en-US" dirty="0"/>
          </a:p>
        </p:txBody>
      </p:sp>
      <p:pic>
        <p:nvPicPr>
          <p:cNvPr id="5" name="Picture 4">
            <a:extLst>
              <a:ext uri="{FF2B5EF4-FFF2-40B4-BE49-F238E27FC236}">
                <a16:creationId xmlns:a16="http://schemas.microsoft.com/office/drawing/2014/main" id="{FABFAE5D-A3CE-9C79-1A50-B80F8AD3736F}"/>
              </a:ext>
            </a:extLst>
          </p:cNvPr>
          <p:cNvPicPr>
            <a:picLocks noChangeAspect="1"/>
          </p:cNvPicPr>
          <p:nvPr/>
        </p:nvPicPr>
        <p:blipFill>
          <a:blip r:embed="rId2"/>
          <a:stretch>
            <a:fillRect/>
          </a:stretch>
        </p:blipFill>
        <p:spPr>
          <a:xfrm>
            <a:off x="270851" y="1719594"/>
            <a:ext cx="4437046" cy="3153450"/>
          </a:xfrm>
          <a:prstGeom prst="rect">
            <a:avLst/>
          </a:prstGeom>
        </p:spPr>
      </p:pic>
    </p:spTree>
    <p:extLst>
      <p:ext uri="{BB962C8B-B14F-4D97-AF65-F5344CB8AC3E}">
        <p14:creationId xmlns:p14="http://schemas.microsoft.com/office/powerpoint/2010/main" val="35824629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A3BB4-72F0-55C7-76F5-14C6FCC56358}"/>
              </a:ext>
            </a:extLst>
          </p:cNvPr>
          <p:cNvSpPr>
            <a:spLocks noGrp="1"/>
          </p:cNvSpPr>
          <p:nvPr>
            <p:ph type="title"/>
          </p:nvPr>
        </p:nvSpPr>
        <p:spPr/>
        <p:txBody>
          <a:bodyPr/>
          <a:lstStyle/>
          <a:p>
            <a:r>
              <a:rPr lang="en-US" dirty="0"/>
              <a:t>Edit the True condition</a:t>
            </a:r>
          </a:p>
        </p:txBody>
      </p:sp>
      <p:sp>
        <p:nvSpPr>
          <p:cNvPr id="3" name="Text Placeholder 2">
            <a:extLst>
              <a:ext uri="{FF2B5EF4-FFF2-40B4-BE49-F238E27FC236}">
                <a16:creationId xmlns:a16="http://schemas.microsoft.com/office/drawing/2014/main" id="{78132284-C048-A00B-E306-4DBEAA4387A2}"/>
              </a:ext>
            </a:extLst>
          </p:cNvPr>
          <p:cNvSpPr>
            <a:spLocks noGrp="1"/>
          </p:cNvSpPr>
          <p:nvPr>
            <p:ph type="body" idx="1"/>
          </p:nvPr>
        </p:nvSpPr>
        <p:spPr>
          <a:xfrm>
            <a:off x="5409126" y="1345841"/>
            <a:ext cx="3245477" cy="3400023"/>
          </a:xfrm>
        </p:spPr>
        <p:txBody>
          <a:bodyPr/>
          <a:lstStyle/>
          <a:p>
            <a:r>
              <a:rPr lang="en-US" dirty="0"/>
              <a:t>Edit the True</a:t>
            </a:r>
          </a:p>
          <a:p>
            <a:r>
              <a:rPr lang="en-US" dirty="0"/>
              <a:t>Cut all files from previous pipeline and add the same in True condition.</a:t>
            </a:r>
          </a:p>
        </p:txBody>
      </p:sp>
      <p:pic>
        <p:nvPicPr>
          <p:cNvPr id="5" name="Picture 4">
            <a:extLst>
              <a:ext uri="{FF2B5EF4-FFF2-40B4-BE49-F238E27FC236}">
                <a16:creationId xmlns:a16="http://schemas.microsoft.com/office/drawing/2014/main" id="{D98C3BA6-7102-9475-99E4-0B51F5444553}"/>
              </a:ext>
            </a:extLst>
          </p:cNvPr>
          <p:cNvPicPr>
            <a:picLocks noChangeAspect="1"/>
          </p:cNvPicPr>
          <p:nvPr/>
        </p:nvPicPr>
        <p:blipFill>
          <a:blip r:embed="rId2"/>
          <a:stretch>
            <a:fillRect/>
          </a:stretch>
        </p:blipFill>
        <p:spPr>
          <a:xfrm>
            <a:off x="114170" y="1410633"/>
            <a:ext cx="4954203" cy="3134292"/>
          </a:xfrm>
          <a:prstGeom prst="rect">
            <a:avLst/>
          </a:prstGeom>
        </p:spPr>
      </p:pic>
    </p:spTree>
    <p:extLst>
      <p:ext uri="{BB962C8B-B14F-4D97-AF65-F5344CB8AC3E}">
        <p14:creationId xmlns:p14="http://schemas.microsoft.com/office/powerpoint/2010/main" val="3919856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42909-BD4B-5DA5-49EE-D901057EF139}"/>
              </a:ext>
            </a:extLst>
          </p:cNvPr>
          <p:cNvSpPr>
            <a:spLocks noGrp="1"/>
          </p:cNvSpPr>
          <p:nvPr>
            <p:ph type="title"/>
          </p:nvPr>
        </p:nvSpPr>
        <p:spPr/>
        <p:txBody>
          <a:bodyPr/>
          <a:lstStyle/>
          <a:p>
            <a:r>
              <a:rPr lang="en-US" dirty="0"/>
              <a:t>Debug</a:t>
            </a:r>
          </a:p>
        </p:txBody>
      </p:sp>
      <p:sp>
        <p:nvSpPr>
          <p:cNvPr id="3" name="Text Placeholder 2">
            <a:extLst>
              <a:ext uri="{FF2B5EF4-FFF2-40B4-BE49-F238E27FC236}">
                <a16:creationId xmlns:a16="http://schemas.microsoft.com/office/drawing/2014/main" id="{635CAF12-EC1F-4106-BD17-F79B71307659}"/>
              </a:ext>
            </a:extLst>
          </p:cNvPr>
          <p:cNvSpPr>
            <a:spLocks noGrp="1"/>
          </p:cNvSpPr>
          <p:nvPr>
            <p:ph type="body" idx="1"/>
          </p:nvPr>
        </p:nvSpPr>
        <p:spPr>
          <a:xfrm>
            <a:off x="5376930" y="1738648"/>
            <a:ext cx="2957369" cy="2975020"/>
          </a:xfrm>
        </p:spPr>
        <p:txBody>
          <a:bodyPr/>
          <a:lstStyle/>
          <a:p>
            <a:r>
              <a:rPr lang="en-US" dirty="0"/>
              <a:t>Pass the wrong data and see the result.</a:t>
            </a:r>
          </a:p>
        </p:txBody>
      </p:sp>
      <p:pic>
        <p:nvPicPr>
          <p:cNvPr id="5" name="Picture 4">
            <a:extLst>
              <a:ext uri="{FF2B5EF4-FFF2-40B4-BE49-F238E27FC236}">
                <a16:creationId xmlns:a16="http://schemas.microsoft.com/office/drawing/2014/main" id="{770DF0D9-BFA4-282D-ECA1-143450534BEC}"/>
              </a:ext>
            </a:extLst>
          </p:cNvPr>
          <p:cNvPicPr>
            <a:picLocks noChangeAspect="1"/>
          </p:cNvPicPr>
          <p:nvPr/>
        </p:nvPicPr>
        <p:blipFill>
          <a:blip r:embed="rId2"/>
          <a:stretch>
            <a:fillRect/>
          </a:stretch>
        </p:blipFill>
        <p:spPr>
          <a:xfrm>
            <a:off x="178273" y="1738648"/>
            <a:ext cx="4845315" cy="3218108"/>
          </a:xfrm>
          <a:prstGeom prst="rect">
            <a:avLst/>
          </a:prstGeom>
        </p:spPr>
      </p:pic>
    </p:spTree>
    <p:extLst>
      <p:ext uri="{BB962C8B-B14F-4D97-AF65-F5344CB8AC3E}">
        <p14:creationId xmlns:p14="http://schemas.microsoft.com/office/powerpoint/2010/main" val="9663004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EB14B-FC1B-184E-0D47-B9515EB149FD}"/>
              </a:ext>
            </a:extLst>
          </p:cNvPr>
          <p:cNvSpPr>
            <a:spLocks noGrp="1"/>
          </p:cNvSpPr>
          <p:nvPr>
            <p:ph type="title"/>
          </p:nvPr>
        </p:nvSpPr>
        <p:spPr/>
        <p:txBody>
          <a:bodyPr/>
          <a:lstStyle/>
          <a:p>
            <a:r>
              <a:rPr lang="en-US" dirty="0"/>
              <a:t>Debugs with correct date</a:t>
            </a:r>
          </a:p>
        </p:txBody>
      </p:sp>
      <p:pic>
        <p:nvPicPr>
          <p:cNvPr id="5" name="Picture 4">
            <a:extLst>
              <a:ext uri="{FF2B5EF4-FFF2-40B4-BE49-F238E27FC236}">
                <a16:creationId xmlns:a16="http://schemas.microsoft.com/office/drawing/2014/main" id="{CC97F881-0218-F35F-7A40-857D8151BFFD}"/>
              </a:ext>
            </a:extLst>
          </p:cNvPr>
          <p:cNvPicPr>
            <a:picLocks noChangeAspect="1"/>
          </p:cNvPicPr>
          <p:nvPr/>
        </p:nvPicPr>
        <p:blipFill>
          <a:blip r:embed="rId2"/>
          <a:stretch>
            <a:fillRect/>
          </a:stretch>
        </p:blipFill>
        <p:spPr>
          <a:xfrm>
            <a:off x="1509022" y="1448507"/>
            <a:ext cx="5445569" cy="3476051"/>
          </a:xfrm>
          <a:prstGeom prst="rect">
            <a:avLst/>
          </a:prstGeom>
        </p:spPr>
      </p:pic>
    </p:spTree>
    <p:extLst>
      <p:ext uri="{BB962C8B-B14F-4D97-AF65-F5344CB8AC3E}">
        <p14:creationId xmlns:p14="http://schemas.microsoft.com/office/powerpoint/2010/main" val="8451980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0A95E-C7B3-AC0A-7D4F-A1ED6FF1CF25}"/>
              </a:ext>
            </a:extLst>
          </p:cNvPr>
          <p:cNvSpPr>
            <a:spLocks noGrp="1"/>
          </p:cNvSpPr>
          <p:nvPr>
            <p:ph type="title"/>
          </p:nvPr>
        </p:nvSpPr>
        <p:spPr/>
        <p:txBody>
          <a:bodyPr>
            <a:normAutofit fontScale="90000"/>
          </a:bodyPr>
          <a:lstStyle/>
          <a:p>
            <a:r>
              <a:rPr lang="en-US" dirty="0"/>
              <a:t>Adding </a:t>
            </a:r>
            <a:r>
              <a:rPr lang="en-US" dirty="0" err="1"/>
              <a:t>databricks</a:t>
            </a:r>
            <a:r>
              <a:rPr lang="en-US" dirty="0"/>
              <a:t> using managed identity</a:t>
            </a:r>
          </a:p>
        </p:txBody>
      </p:sp>
      <p:sp>
        <p:nvSpPr>
          <p:cNvPr id="3" name="Text Placeholder 2">
            <a:extLst>
              <a:ext uri="{FF2B5EF4-FFF2-40B4-BE49-F238E27FC236}">
                <a16:creationId xmlns:a16="http://schemas.microsoft.com/office/drawing/2014/main" id="{9FEB85A4-AE4C-CA6D-00A9-2B5624566C1A}"/>
              </a:ext>
            </a:extLst>
          </p:cNvPr>
          <p:cNvSpPr>
            <a:spLocks noGrp="1"/>
          </p:cNvSpPr>
          <p:nvPr>
            <p:ph type="body" idx="1"/>
          </p:nvPr>
        </p:nvSpPr>
        <p:spPr/>
        <p:txBody>
          <a:bodyPr/>
          <a:lstStyle/>
          <a:p>
            <a:r>
              <a:rPr lang="en-US" dirty="0"/>
              <a:t>Till the last slide we worked on accessing the </a:t>
            </a:r>
            <a:r>
              <a:rPr lang="en-US" dirty="0" err="1"/>
              <a:t>databricks</a:t>
            </a:r>
            <a:r>
              <a:rPr lang="en-US" dirty="0"/>
              <a:t> using access key.</a:t>
            </a:r>
          </a:p>
          <a:p>
            <a:r>
              <a:rPr lang="en-US" dirty="0"/>
              <a:t>Now we will connect using managed identity.</a:t>
            </a:r>
          </a:p>
        </p:txBody>
      </p:sp>
    </p:spTree>
    <p:extLst>
      <p:ext uri="{BB962C8B-B14F-4D97-AF65-F5344CB8AC3E}">
        <p14:creationId xmlns:p14="http://schemas.microsoft.com/office/powerpoint/2010/main" val="42946536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CEB90-B156-8C38-6FC9-4DEFCCF5F365}"/>
              </a:ext>
            </a:extLst>
          </p:cNvPr>
          <p:cNvSpPr>
            <a:spLocks noGrp="1"/>
          </p:cNvSpPr>
          <p:nvPr>
            <p:ph type="title"/>
          </p:nvPr>
        </p:nvSpPr>
        <p:spPr/>
        <p:txBody>
          <a:bodyPr>
            <a:normAutofit fontScale="90000"/>
          </a:bodyPr>
          <a:lstStyle/>
          <a:p>
            <a:r>
              <a:rPr lang="en-US" dirty="0"/>
              <a:t>Connecting Databricks notebook to Data factory step-1</a:t>
            </a:r>
          </a:p>
        </p:txBody>
      </p:sp>
      <p:sp>
        <p:nvSpPr>
          <p:cNvPr id="3" name="Text Placeholder 2">
            <a:extLst>
              <a:ext uri="{FF2B5EF4-FFF2-40B4-BE49-F238E27FC236}">
                <a16:creationId xmlns:a16="http://schemas.microsoft.com/office/drawing/2014/main" id="{3A3B00DC-73DE-C5D3-84BD-C4F9539FB2F9}"/>
              </a:ext>
            </a:extLst>
          </p:cNvPr>
          <p:cNvSpPr>
            <a:spLocks noGrp="1"/>
          </p:cNvSpPr>
          <p:nvPr>
            <p:ph type="body" idx="1"/>
          </p:nvPr>
        </p:nvSpPr>
        <p:spPr>
          <a:xfrm>
            <a:off x="5151549" y="1990050"/>
            <a:ext cx="3702675" cy="2903922"/>
          </a:xfrm>
        </p:spPr>
        <p:txBody>
          <a:bodyPr/>
          <a:lstStyle/>
          <a:p>
            <a:endParaRPr lang="en-US" dirty="0"/>
          </a:p>
        </p:txBody>
      </p:sp>
      <p:pic>
        <p:nvPicPr>
          <p:cNvPr id="5" name="Picture 4">
            <a:extLst>
              <a:ext uri="{FF2B5EF4-FFF2-40B4-BE49-F238E27FC236}">
                <a16:creationId xmlns:a16="http://schemas.microsoft.com/office/drawing/2014/main" id="{13B10297-697F-D792-D4A7-355D02E6764F}"/>
              </a:ext>
            </a:extLst>
          </p:cNvPr>
          <p:cNvPicPr>
            <a:picLocks noChangeAspect="1"/>
          </p:cNvPicPr>
          <p:nvPr/>
        </p:nvPicPr>
        <p:blipFill>
          <a:blip r:embed="rId2"/>
          <a:stretch>
            <a:fillRect/>
          </a:stretch>
        </p:blipFill>
        <p:spPr>
          <a:xfrm>
            <a:off x="160986" y="1944506"/>
            <a:ext cx="4732761" cy="2600419"/>
          </a:xfrm>
          <a:prstGeom prst="rect">
            <a:avLst/>
          </a:prstGeom>
        </p:spPr>
      </p:pic>
    </p:spTree>
    <p:extLst>
      <p:ext uri="{BB962C8B-B14F-4D97-AF65-F5344CB8AC3E}">
        <p14:creationId xmlns:p14="http://schemas.microsoft.com/office/powerpoint/2010/main" val="10787292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F2F80-79DB-3015-4A1F-486EFB987B44}"/>
              </a:ext>
            </a:extLst>
          </p:cNvPr>
          <p:cNvSpPr>
            <a:spLocks noGrp="1"/>
          </p:cNvSpPr>
          <p:nvPr>
            <p:ph type="title"/>
          </p:nvPr>
        </p:nvSpPr>
        <p:spPr/>
        <p:txBody>
          <a:bodyPr/>
          <a:lstStyle/>
          <a:p>
            <a:r>
              <a:rPr lang="en-US" dirty="0"/>
              <a:t>step2</a:t>
            </a:r>
          </a:p>
        </p:txBody>
      </p:sp>
      <p:sp>
        <p:nvSpPr>
          <p:cNvPr id="3" name="Text Placeholder 2">
            <a:extLst>
              <a:ext uri="{FF2B5EF4-FFF2-40B4-BE49-F238E27FC236}">
                <a16:creationId xmlns:a16="http://schemas.microsoft.com/office/drawing/2014/main" id="{DDC098AC-8C8F-231F-AAF3-E1C3D778B995}"/>
              </a:ext>
            </a:extLst>
          </p:cNvPr>
          <p:cNvSpPr>
            <a:spLocks noGrp="1"/>
          </p:cNvSpPr>
          <p:nvPr>
            <p:ph type="body" idx="1"/>
          </p:nvPr>
        </p:nvSpPr>
        <p:spPr>
          <a:xfrm>
            <a:off x="4990562" y="1887428"/>
            <a:ext cx="3644723" cy="2644222"/>
          </a:xfrm>
        </p:spPr>
        <p:txBody>
          <a:bodyPr/>
          <a:lstStyle/>
          <a:p>
            <a:r>
              <a:rPr lang="en-US" dirty="0"/>
              <a:t>Go to data bricks</a:t>
            </a:r>
          </a:p>
          <a:p>
            <a:r>
              <a:rPr lang="en-US" dirty="0"/>
              <a:t>Select IAM</a:t>
            </a:r>
          </a:p>
          <a:p>
            <a:r>
              <a:rPr lang="en-US" dirty="0"/>
              <a:t>Assign new role assignment</a:t>
            </a:r>
          </a:p>
          <a:p>
            <a:r>
              <a:rPr lang="en-US" dirty="0"/>
              <a:t>Select the contributor</a:t>
            </a:r>
          </a:p>
          <a:p>
            <a:r>
              <a:rPr lang="en-US" dirty="0"/>
              <a:t>Select member as Databricks member</a:t>
            </a:r>
          </a:p>
          <a:p>
            <a:endParaRPr lang="en-US" dirty="0"/>
          </a:p>
        </p:txBody>
      </p:sp>
      <p:pic>
        <p:nvPicPr>
          <p:cNvPr id="5" name="Picture 4">
            <a:extLst>
              <a:ext uri="{FF2B5EF4-FFF2-40B4-BE49-F238E27FC236}">
                <a16:creationId xmlns:a16="http://schemas.microsoft.com/office/drawing/2014/main" id="{DDEBCB4C-AA1F-4653-7B25-B6B4E93974FE}"/>
              </a:ext>
            </a:extLst>
          </p:cNvPr>
          <p:cNvPicPr>
            <a:picLocks noChangeAspect="1"/>
          </p:cNvPicPr>
          <p:nvPr/>
        </p:nvPicPr>
        <p:blipFill>
          <a:blip r:embed="rId2"/>
          <a:stretch>
            <a:fillRect/>
          </a:stretch>
        </p:blipFill>
        <p:spPr>
          <a:xfrm>
            <a:off x="149198" y="1893867"/>
            <a:ext cx="4669852" cy="2541600"/>
          </a:xfrm>
          <a:prstGeom prst="rect">
            <a:avLst/>
          </a:prstGeom>
        </p:spPr>
      </p:pic>
    </p:spTree>
    <p:extLst>
      <p:ext uri="{BB962C8B-B14F-4D97-AF65-F5344CB8AC3E}">
        <p14:creationId xmlns:p14="http://schemas.microsoft.com/office/powerpoint/2010/main" val="14547050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E4F54-05B5-74BA-3BAF-682C15EEAF6F}"/>
              </a:ext>
            </a:extLst>
          </p:cNvPr>
          <p:cNvSpPr>
            <a:spLocks noGrp="1"/>
          </p:cNvSpPr>
          <p:nvPr>
            <p:ph type="title"/>
          </p:nvPr>
        </p:nvSpPr>
        <p:spPr/>
        <p:txBody>
          <a:bodyPr/>
          <a:lstStyle/>
          <a:p>
            <a:r>
              <a:rPr lang="en-US" dirty="0"/>
              <a:t>Step-3</a:t>
            </a:r>
          </a:p>
        </p:txBody>
      </p:sp>
      <p:sp>
        <p:nvSpPr>
          <p:cNvPr id="3" name="Text Placeholder 2">
            <a:extLst>
              <a:ext uri="{FF2B5EF4-FFF2-40B4-BE49-F238E27FC236}">
                <a16:creationId xmlns:a16="http://schemas.microsoft.com/office/drawing/2014/main" id="{0B637125-2C15-A584-BE4A-C7178084B302}"/>
              </a:ext>
            </a:extLst>
          </p:cNvPr>
          <p:cNvSpPr>
            <a:spLocks noGrp="1"/>
          </p:cNvSpPr>
          <p:nvPr>
            <p:ph type="body" idx="1"/>
          </p:nvPr>
        </p:nvSpPr>
        <p:spPr>
          <a:xfrm>
            <a:off x="4797380" y="1990050"/>
            <a:ext cx="3536920" cy="2541600"/>
          </a:xfrm>
        </p:spPr>
        <p:txBody>
          <a:bodyPr/>
          <a:lstStyle/>
          <a:p>
            <a:r>
              <a:rPr lang="en-US" dirty="0"/>
              <a:t>Refresh the data bricks page and pass the cluster details.</a:t>
            </a:r>
          </a:p>
          <a:p>
            <a:r>
              <a:rPr lang="en-US" dirty="0"/>
              <a:t>Test </a:t>
            </a:r>
            <a:r>
              <a:rPr lang="en-US"/>
              <a:t>the connection.</a:t>
            </a:r>
            <a:endParaRPr lang="en-US" dirty="0"/>
          </a:p>
        </p:txBody>
      </p:sp>
      <p:pic>
        <p:nvPicPr>
          <p:cNvPr id="5" name="Picture 4">
            <a:extLst>
              <a:ext uri="{FF2B5EF4-FFF2-40B4-BE49-F238E27FC236}">
                <a16:creationId xmlns:a16="http://schemas.microsoft.com/office/drawing/2014/main" id="{09E90F20-ABF3-4815-278C-6288EBE38907}"/>
              </a:ext>
            </a:extLst>
          </p:cNvPr>
          <p:cNvPicPr>
            <a:picLocks noChangeAspect="1"/>
          </p:cNvPicPr>
          <p:nvPr/>
        </p:nvPicPr>
        <p:blipFill>
          <a:blip r:embed="rId2"/>
          <a:stretch>
            <a:fillRect/>
          </a:stretch>
        </p:blipFill>
        <p:spPr>
          <a:xfrm>
            <a:off x="412317" y="1990050"/>
            <a:ext cx="3823499" cy="2786666"/>
          </a:xfrm>
          <a:prstGeom prst="rect">
            <a:avLst/>
          </a:prstGeom>
        </p:spPr>
      </p:pic>
    </p:spTree>
    <p:extLst>
      <p:ext uri="{BB962C8B-B14F-4D97-AF65-F5344CB8AC3E}">
        <p14:creationId xmlns:p14="http://schemas.microsoft.com/office/powerpoint/2010/main" val="2538542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28"/>
          <p:cNvSpPr txBox="1">
            <a:spLocks noGrp="1"/>
          </p:cNvSpPr>
          <p:nvPr>
            <p:ph type="title"/>
          </p:nvPr>
        </p:nvSpPr>
        <p:spPr>
          <a:xfrm>
            <a:off x="1540325" y="1566875"/>
            <a:ext cx="5857800" cy="18729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sz="8900"/>
              <a:t>Thank You</a:t>
            </a:r>
            <a:endParaRPr sz="9900"/>
          </a:p>
        </p:txBody>
      </p:sp>
    </p:spTree>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2795</TotalTime>
  <Words>1172</Words>
  <Application>Microsoft Office PowerPoint</Application>
  <PresentationFormat>On-screen Show (16:9)</PresentationFormat>
  <Paragraphs>186</Paragraphs>
  <Slides>53</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Roboto</vt:lpstr>
      <vt:lpstr>Arial</vt:lpstr>
      <vt:lpstr>Maven Pro</vt:lpstr>
      <vt:lpstr>Nunito</vt:lpstr>
      <vt:lpstr>Momentum</vt:lpstr>
      <vt:lpstr>Azure Data factory</vt:lpstr>
      <vt:lpstr>What is Azure data factory</vt:lpstr>
      <vt:lpstr>Azure data factory is</vt:lpstr>
      <vt:lpstr>Why to learn Azure Data factory</vt:lpstr>
      <vt:lpstr>Data sources</vt:lpstr>
      <vt:lpstr>Data problems</vt:lpstr>
      <vt:lpstr>Azure data factory is not:</vt:lpstr>
      <vt:lpstr>Data processing architecture</vt:lpstr>
      <vt:lpstr>Architecture  </vt:lpstr>
      <vt:lpstr>data available in</vt:lpstr>
      <vt:lpstr>ADF file format</vt:lpstr>
      <vt:lpstr>Architecture </vt:lpstr>
      <vt:lpstr>Architecture </vt:lpstr>
      <vt:lpstr>Azure database</vt:lpstr>
      <vt:lpstr>Azure Storage Account</vt:lpstr>
      <vt:lpstr>Data Factory component </vt:lpstr>
      <vt:lpstr>Environment  set-up</vt:lpstr>
      <vt:lpstr>PowerPoint Presentation</vt:lpstr>
      <vt:lpstr>Setting the general properties</vt:lpstr>
      <vt:lpstr>Databricks Notebook</vt:lpstr>
      <vt:lpstr>PowerPoint Presentation</vt:lpstr>
      <vt:lpstr>Generate access token</vt:lpstr>
      <vt:lpstr>Setting</vt:lpstr>
      <vt:lpstr>Browsing the path</vt:lpstr>
      <vt:lpstr>Adding Notebook path</vt:lpstr>
      <vt:lpstr>Passing parameter to the file </vt:lpstr>
      <vt:lpstr>Passing parameters to file</vt:lpstr>
      <vt:lpstr>Adding parameters</vt:lpstr>
      <vt:lpstr>Adding date parameter </vt:lpstr>
      <vt:lpstr>Adding the date parameter</vt:lpstr>
      <vt:lpstr>More about date format in Azure data factory</vt:lpstr>
      <vt:lpstr>debug</vt:lpstr>
      <vt:lpstr>Creating more pipelines</vt:lpstr>
      <vt:lpstr>Connecting the storage</vt:lpstr>
      <vt:lpstr>Connecting the storage</vt:lpstr>
      <vt:lpstr>Setting the parameter for data connection</vt:lpstr>
      <vt:lpstr>Connect the Storage</vt:lpstr>
      <vt:lpstr>Connect the storage account</vt:lpstr>
      <vt:lpstr>PowerPoint Presentation</vt:lpstr>
      <vt:lpstr>Go back to pipeline</vt:lpstr>
      <vt:lpstr>PowerPoint Presentation</vt:lpstr>
      <vt:lpstr>Field list</vt:lpstr>
      <vt:lpstr>IF condition</vt:lpstr>
      <vt:lpstr>IF condition</vt:lpstr>
      <vt:lpstr>Check is folder exists</vt:lpstr>
      <vt:lpstr>Edit the True condition</vt:lpstr>
      <vt:lpstr>Debug</vt:lpstr>
      <vt:lpstr>Debugs with correct date</vt:lpstr>
      <vt:lpstr>Adding databricks using managed identity</vt:lpstr>
      <vt:lpstr>Connecting Databricks notebook to Data factory step-1</vt:lpstr>
      <vt:lpstr>step2</vt:lpstr>
      <vt:lpstr>Step-3</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Amrita Helwade</cp:lastModifiedBy>
  <cp:revision>16</cp:revision>
  <dcterms:modified xsi:type="dcterms:W3CDTF">2024-12-02T14:48:38Z</dcterms:modified>
</cp:coreProperties>
</file>