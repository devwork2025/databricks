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  <p:embeddedFont>
      <p:font typeface="Maven Pro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22" Type="http://schemas.openxmlformats.org/officeDocument/2006/relationships/font" Target="fonts/MavenPro-bold.fntdata"/><Relationship Id="rId10" Type="http://schemas.openxmlformats.org/officeDocument/2006/relationships/slide" Target="slides/slide5.xml"/><Relationship Id="rId21" Type="http://schemas.openxmlformats.org/officeDocument/2006/relationships/font" Target="fonts/MavenPro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2ec700923ca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2ec700923ca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2ec700923ca_0_2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2ec700923ca_0_2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2ec700923ca_0_2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2ec700923ca_0_2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ec700923ca_0_2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7" name="Google Shape;297;g2ec700923ca_0_2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g2ec700923ca_0_2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3" name="Google Shape;303;g2ec700923ca_0_2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2ed5bf3e0a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2ed5bf3e0a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2ed5bf3e0a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2ed5bf3e0a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2ed5bf3e0ac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2ed5bf3e0ac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2ed5bf3e0a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2ed5bf3e0a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2ed5bf3e0ac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2ed5bf3e0ac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283825" y="2081550"/>
            <a:ext cx="5437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200"/>
              <a:t>Databricks_Activity</a:t>
            </a:r>
            <a:endParaRPr sz="4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7" name="Google Shape;2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47225" y="1378625"/>
            <a:ext cx="5639326" cy="3443525"/>
          </a:xfrm>
          <a:prstGeom prst="rect">
            <a:avLst/>
          </a:prstGeom>
          <a:noFill/>
          <a:ln>
            <a:noFill/>
          </a:ln>
        </p:spPr>
      </p:pic>
      <p:sp>
        <p:nvSpPr>
          <p:cNvPr id="288" name="Google Shape;288;p15"/>
          <p:cNvSpPr txBox="1"/>
          <p:nvPr/>
        </p:nvSpPr>
        <p:spPr>
          <a:xfrm>
            <a:off x="5650800" y="1049900"/>
            <a:ext cx="3493200" cy="372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55600" lvl="0" marL="45720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Create Databricks Service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Create Databricks Cluster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Mount Storage Accounts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Transformation Requirements  </a:t>
            </a:r>
            <a:endParaRPr sz="2000">
              <a:solidFill>
                <a:schemeClr val="dk2"/>
              </a:solidFill>
            </a:endParaRPr>
          </a:p>
          <a:p>
            <a:pPr indent="-355600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Char char="●"/>
            </a:pPr>
            <a:r>
              <a:rPr lang="en" sz="2000">
                <a:solidFill>
                  <a:schemeClr val="dk2"/>
                </a:solidFill>
              </a:rPr>
              <a:t>Creating Pipeline</a:t>
            </a:r>
            <a:endParaRPr sz="2000">
              <a:solidFill>
                <a:schemeClr val="dk2"/>
              </a:solidFill>
            </a:endParaRPr>
          </a:p>
        </p:txBody>
      </p:sp>
      <p:sp>
        <p:nvSpPr>
          <p:cNvPr id="289" name="Google Shape;289;p15"/>
          <p:cNvSpPr txBox="1"/>
          <p:nvPr/>
        </p:nvSpPr>
        <p:spPr>
          <a:xfrm>
            <a:off x="0" y="129175"/>
            <a:ext cx="87861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solidFill>
                  <a:schemeClr val="dk2"/>
                </a:solidFill>
              </a:rPr>
              <a:t>Databricks Activity – Population File</a:t>
            </a:r>
            <a:endParaRPr sz="4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6"/>
          <p:cNvSpPr txBox="1"/>
          <p:nvPr>
            <p:ph type="title"/>
          </p:nvPr>
        </p:nvSpPr>
        <p:spPr>
          <a:xfrm>
            <a:off x="413025" y="1532600"/>
            <a:ext cx="76803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-43434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Databricks Environment Set-up</a:t>
            </a:r>
            <a:endParaRPr/>
          </a:p>
          <a:p>
            <a:pPr indent="-43434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Creating Databricks Service</a:t>
            </a:r>
            <a:endParaRPr/>
          </a:p>
          <a:p>
            <a:pPr indent="-43434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Creating Databricks Cluster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8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9" name="Google Shape;29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7"/>
          <p:cNvSpPr txBox="1"/>
          <p:nvPr/>
        </p:nvSpPr>
        <p:spPr>
          <a:xfrm>
            <a:off x="2116125" y="274800"/>
            <a:ext cx="5026200" cy="7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What is a Cluster?</a:t>
            </a:r>
            <a:endParaRPr b="1" sz="32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1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18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/>
              <a:t>Cluster Types</a:t>
            </a:r>
            <a:endParaRPr sz="3200"/>
          </a:p>
        </p:txBody>
      </p:sp>
      <p:pic>
        <p:nvPicPr>
          <p:cNvPr id="306" name="Google Shape;306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5575" y="2163975"/>
            <a:ext cx="3816525" cy="1796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7" name="Google Shape;307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15600" y="2163975"/>
            <a:ext cx="3252825" cy="149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19"/>
          <p:cNvSpPr txBox="1"/>
          <p:nvPr>
            <p:ph type="title"/>
          </p:nvPr>
        </p:nvSpPr>
        <p:spPr>
          <a:xfrm>
            <a:off x="824000" y="1613825"/>
            <a:ext cx="71871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Mounting Data Lake Storage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0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Mounting Data Lake Storage</a:t>
            </a:r>
            <a:endParaRPr sz="3000"/>
          </a:p>
        </p:txBody>
      </p:sp>
      <p:sp>
        <p:nvSpPr>
          <p:cNvPr id="318" name="Google Shape;318;p20"/>
          <p:cNvSpPr txBox="1"/>
          <p:nvPr>
            <p:ph idx="1" type="body"/>
          </p:nvPr>
        </p:nvSpPr>
        <p:spPr>
          <a:xfrm>
            <a:off x="1162875" y="189610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/>
          </a:bodyPr>
          <a:lstStyle/>
          <a:p>
            <a:pPr indent="-363537" lvl="0" marL="457200" rtl="0" algn="l">
              <a:lnSpc>
                <a:spcPct val="150000"/>
              </a:lnSpc>
              <a:spcBef>
                <a:spcPts val="10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2500">
                <a:latin typeface="Arial"/>
                <a:ea typeface="Arial"/>
                <a:cs typeface="Arial"/>
                <a:sym typeface="Arial"/>
              </a:rPr>
              <a:t>Create Azure Service Principal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63537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2500">
                <a:latin typeface="Arial"/>
                <a:ea typeface="Arial"/>
                <a:cs typeface="Arial"/>
                <a:sym typeface="Arial"/>
              </a:rPr>
              <a:t>Grant access for data lake to Azure Service Principal  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-363537" lvl="0" marL="457200" marR="127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Arial"/>
              <a:buChar char="●"/>
            </a:pPr>
            <a:r>
              <a:rPr lang="en" sz="2500">
                <a:latin typeface="Arial"/>
                <a:ea typeface="Arial"/>
                <a:cs typeface="Arial"/>
                <a:sym typeface="Arial"/>
              </a:rPr>
              <a:t>Create the mount in databricks using Service Principal</a:t>
            </a:r>
            <a:endParaRPr sz="2500"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50000"/>
              </a:lnSpc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21"/>
          <p:cNvSpPr txBox="1"/>
          <p:nvPr/>
        </p:nvSpPr>
        <p:spPr>
          <a:xfrm>
            <a:off x="883075" y="1742675"/>
            <a:ext cx="5953800" cy="11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0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500"/>
              <a:buFont typeface="Maven Pro"/>
              <a:buChar char="❖"/>
            </a:pPr>
            <a:r>
              <a:rPr b="1" lang="en" sz="35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rPr>
              <a:t>Transform Population by Age Data</a:t>
            </a:r>
            <a:endParaRPr b="1" sz="3500">
              <a:solidFill>
                <a:schemeClr val="dk2"/>
              </a:solidFill>
              <a:latin typeface="Maven Pro"/>
              <a:ea typeface="Maven Pro"/>
              <a:cs typeface="Maven Pro"/>
              <a:sym typeface="Maven Pr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8" name="Google Shape;3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2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5100"/>
              <a:t>Thank You</a:t>
            </a:r>
            <a:endParaRPr sz="5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